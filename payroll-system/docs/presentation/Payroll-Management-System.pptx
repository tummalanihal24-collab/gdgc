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ee33add-39cc-d988-f5be-e3964ee14e7b}">
          <p14:sldIdLst>
            <p14:sldId id="256"/>
          </p14:sldIdLst>
        </p14:section>
        <p14:section name="Problem and scope" id="{2db8195f-a8b7-2ec7-fbc0-becfa7f03f96}">
          <p14:sldIdLst>
            <p14:sldId id="257"/>
          </p14:sldIdLst>
        </p14:section>
        <p14:section name="Design" id="{4c190c1d-5e3c-b829-e042-e6cdc093425f}">
          <p14:sldIdLst>
            <p14:sldId id="258"/>
            <p14:sldId id="259"/>
            <p14:sldId id="260"/>
          </p14:sldIdLst>
        </p14:section>
        <p14:section name="Features" id="{29ee9d94-7b47-97b2-b16c-19f298299a52}">
          <p14:sldIdLst>
            <p14:sldId id="261"/>
            <p14:sldId id="262"/>
          </p14:sldIdLst>
        </p14:section>
        <p14:section name="How it works" id="{9d6ab67b-6100-ecdd-2424-3c8ddb17f15c}">
          <p14:sldIdLst>
            <p14:sldId id="263"/>
            <p14:sldId id="264"/>
            <p14:sldId id="265"/>
          </p14:sldIdLst>
        </p14:section>
        <p14:section name="Quality" id="{bb133c91-2330-1244-412d-c3e3a1d3ef39}">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desktop payroll system built with Java Swing for the screens, JDBC for data access and MySQL for storage. The screenshot is the real application running on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jobs the system does, then the three kinds of user. The scheduler is not a person: it is a timer inside the app that runs last month's payroll on the 1st.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exotic here. Each library does one job: FlatLaf for the look, HikariCP for pooled connections, jBCrypt for password hashes, OpenPDF for payslips.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top to bottom. The key idea: screens never contain SQL, and the salary maths never touches the database, which is why it can be unit-tested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Accounts for both admins and employees live in users; employee adds the HR fields and shares the same key. The UNIQUE(emp_id, pay_month) constraint is what makes a payroll run safe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tab in the screenshot is one feature area. Highlight Run Payroll: that is where the calculation, verification and payment happen. Screenshot uses demo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payslip list only contains months whose payroll is VERIFIED or PAID, so an employee never sees a figure that HR might still change. The PDF is generated on demand with OpenPDF.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system. Whether HR clicks Run Payroll or the scheduler fires on the 1st, the same service method runs. If anything fails, nothing is saved, and because rows are unique per employee and month, running it again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formula once, then the worked example on the right. Only ABSENT days reduce pay; leave is paid, and days with no record count as present. The example numbers come straight from the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is where HR can still recalculate. Verified releases the payslip to the employee. Paid is final. Cancel is possible before payment; a cancelled record can be reprocessed back to Generated with fresh figures. Every move is written 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these into accounts and data. The point for a payroll system: money figures cannot be duplicated, silently changed or traced to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scope. The workflow suite passes on H2 and on a MariaDB server; MySQL 8 itself has not been run, though the SQL is standard. The limitations on the right are the natural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ideas: a single place where salary is calculated, a complete audit trail, and separate experiences for HR and employees.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640080" y="1600200"/>
            <a:ext cx="521208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0"/>
            <a:ext cx="4572000" cy="274320"/>
          </a:xfrm>
          <a:prstGeom prst="rect">
            <a:avLst/>
          </a:prstGeom>
          <a:noFill/>
          <a:ln/>
        </p:spPr>
        <p:txBody>
          <a:bodyPr wrap="square" lIns="0" tIns="0" rIns="0" bIns="0" rtlCol="0" anchor="ctr"/>
          <a:lstStyle/>
          <a:p>
            <a:pPr indent="0" marL="0">
              <a:buNone/>
            </a:pPr>
            <a:r>
              <a:rPr lang="en-US" sz="1100" dirty="0">
                <a:solidFill>
                  <a:schemeClr val="accent5"/>
                </a:solidFill>
              </a:rPr>
              <a:t>Payroll Management System</a:t>
            </a:r>
            <a:endParaRPr lang="en-US" sz="1100" dirty="0"/>
          </a:p>
        </p:txBody>
      </p:sp>
      <p:sp>
        <p:nvSpPr>
          <p:cNvPr id="3" name="Text 1"/>
          <p:cNvSpPr/>
          <p:nvPr>
            <p:ph idx="101" type="title" hasCustomPrompt="1"/>
          </p:nvPr>
        </p:nvSpPr>
        <p:spPr>
          <a:xfrm>
            <a:off x="640080" y="457200"/>
            <a:ext cx="10911535" cy="9144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640080" y="2011680"/>
            <a:ext cx="8778240" cy="20116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5212080" cy="365760"/>
          </a:xfrm>
          <a:prstGeom prst="rect">
            <a:avLst/>
          </a:prstGeom>
          <a:noFill/>
          <a:ln/>
        </p:spPr>
        <p:txBody>
          <a:bodyPr wrap="square" lIns="0" tIns="0" rIns="0" bIns="0" rtlCol="0" anchor="t"/>
          <a:lstStyle/>
          <a:p>
            <a:pPr indent="0" marL="0">
              <a:buNone/>
            </a:pPr>
            <a:r>
              <a:rPr lang="en-US" sz="1600" dirty="0">
                <a:solidFill>
                  <a:schemeClr val="accent2"/>
                </a:solidFill>
              </a:rPr>
              <a:t>Project presentation</a:t>
            </a:r>
            <a:endParaRPr lang="en-US" sz="1600" dirty="0"/>
          </a:p>
        </p:txBody>
      </p:sp>
      <p:sp>
        <p:nvSpPr>
          <p:cNvPr id="3" name="Text 1"/>
          <p:cNvSpPr/>
          <p:nvPr>
            <p:ph idx="101" type="title" hasCustomPrompt="1"/>
          </p:nvPr>
        </p:nvSpPr>
        <p:spPr>
          <a:xfrm>
            <a:off x="640080" y="1600200"/>
            <a:ext cx="5212080" cy="1920240"/>
          </a:xfrm>
          <a:prstGeom prst="rect">
            <a:avLst/>
          </a:prstGeom>
          <a:noFill/>
          <a:ln/>
        </p:spPr>
        <p:txBody>
          <a:bodyPr wrap="square" lIns="0" tIns="0" rIns="0" bIns="0" rtlCol="0" anchor="t"/>
          <a:lstStyle/>
          <a:p>
            <a:pPr algn="l" indent="0" marL="0">
              <a:buNone/>
            </a:pPr>
            <a:r>
              <a:rPr lang="en-US" sz="4000" b="1" dirty="0">
                <a:solidFill>
                  <a:schemeClr val="bg1"/>
                </a:solidFill>
              </a:rPr>
              <a:t>Payroll Management System</a:t>
            </a:r>
            <a:endParaRPr lang="en-US" sz="4000" dirty="0"/>
          </a:p>
        </p:txBody>
      </p:sp>
      <p:sp>
        <p:nvSpPr>
          <p:cNvPr id="4" name="Text 2"/>
          <p:cNvSpPr txBox="1"/>
          <p:nvPr/>
        </p:nvSpPr>
        <p:spPr>
          <a:xfrm>
            <a:off x="640080" y="3703320"/>
            <a:ext cx="5029200" cy="1371600"/>
          </a:xfrm>
          <a:prstGeom prst="rect">
            <a:avLst/>
          </a:prstGeom>
          <a:noFill/>
          <a:ln/>
        </p:spPr>
        <p:txBody>
          <a:bodyPr wrap="square" lIns="0" tIns="0" rIns="0" bIns="0" rtlCol="0" anchor="t"/>
          <a:lstStyle/>
          <a:p>
            <a:pPr indent="0" marL="0">
              <a:buNone/>
            </a:pPr>
            <a:r>
              <a:rPr lang="en-US" sz="1800" dirty="0">
                <a:solidFill>
                  <a:schemeClr val="bg2"/>
                </a:solidFill>
              </a:rPr>
              <a:t>A Java Swing desktop application that takes a company from attendance to payslip: employee records, salary calculation, approval and audit, stored in MySQL.</a:t>
            </a:r>
            <a:endParaRPr lang="en-US" sz="1800" dirty="0"/>
          </a:p>
        </p:txBody>
      </p:sp>
      <p:sp>
        <p:nvSpPr>
          <p:cNvPr id="5" name="Text 3"/>
          <p:cNvSpPr txBox="1"/>
          <p:nvPr/>
        </p:nvSpPr>
        <p:spPr>
          <a:xfrm>
            <a:off x="640080" y="5989320"/>
            <a:ext cx="5212080" cy="320040"/>
          </a:xfrm>
          <a:prstGeom prst="rect">
            <a:avLst/>
          </a:prstGeom>
          <a:noFill/>
          <a:ln/>
        </p:spPr>
        <p:txBody>
          <a:bodyPr wrap="square" lIns="0" tIns="0" rIns="0" bIns="0" rtlCol="0" anchor="t"/>
          <a:lstStyle/>
          <a:p>
            <a:pPr indent="0" marL="0">
              <a:buNone/>
            </a:pPr>
            <a:r>
              <a:rPr lang="en-US" sz="1400" dirty="0">
                <a:solidFill>
                  <a:schemeClr val="bg2"/>
                </a:solidFill>
              </a:rPr>
              <a:t>Java 17  ·  Swing  ·  JDBC  ·  MySQL</a:t>
            </a:r>
            <a:endParaRPr lang="en-US" sz="1400" dirty="0"/>
          </a:p>
        </p:txBody>
      </p:sp>
      <p:pic>
        <p:nvPicPr>
          <p:cNvPr id="6" name="Image 0" descr="Reports screen of the application showing a payroll table and a net salary by department chart">    </p:cNvPr>
          <p:cNvPicPr>
            <a:picLocks noChangeAspect="1"/>
          </p:cNvPicPr>
          <p:nvPr/>
        </p:nvPicPr>
        <p:blipFill>
          <a:blip r:embed="rId1"/>
          <a:stretch>
            <a:fillRect/>
          </a:stretch>
        </p:blipFill>
        <p:spPr>
          <a:xfrm>
            <a:off x="6355080" y="1600200"/>
            <a:ext cx="5212080" cy="3180252"/>
          </a:xfrm>
          <a:prstGeom prst="rect">
            <a:avLst/>
          </a:prstGeom>
        </p:spPr>
      </p:pic>
      <p:sp>
        <p:nvSpPr>
          <p:cNvPr id="7" name="Text 4"/>
          <p:cNvSpPr txBox="1"/>
          <p:nvPr/>
        </p:nvSpPr>
        <p:spPr>
          <a:xfrm>
            <a:off x="6355080" y="4937760"/>
            <a:ext cx="5212080" cy="274320"/>
          </a:xfrm>
          <a:prstGeom prst="rect">
            <a:avLst/>
          </a:prstGeom>
          <a:noFill/>
          <a:ln/>
        </p:spPr>
        <p:txBody>
          <a:bodyPr wrap="square" lIns="0" tIns="0" rIns="0" bIns="0" rtlCol="0" anchor="t"/>
          <a:lstStyle/>
          <a:p>
            <a:pPr indent="0" marL="0">
              <a:buNone/>
            </a:pPr>
            <a:r>
              <a:rPr lang="en-US" sz="1200" dirty="0">
                <a:solidFill>
                  <a:schemeClr val="bg2"/>
                </a:solidFill>
              </a:rPr>
              <a:t>Reports screen of the running application (demo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The system covers the full monthly payroll cycle, from attendance to payslip</a:t>
            </a:r>
            <a:endParaRPr lang="en-US" sz="3000" dirty="0"/>
          </a:p>
        </p:txBody>
      </p:sp>
      <p:sp>
        <p:nvSpPr>
          <p:cNvPr id="4" name="Text 1"/>
          <p:cNvSpPr txBox="1"/>
          <p:nvPr/>
        </p:nvSpPr>
        <p:spPr>
          <a:xfrm>
            <a:off x="640080" y="1691640"/>
            <a:ext cx="5760720" cy="42062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900" dirty="0">
                <a:solidFill>
                  <a:schemeClr val="tx1"/>
                </a:solidFill>
              </a:rPr>
              <a:t>Keep employee, department and salary-structure records</a:t>
            </a:r>
            <a:endParaRPr lang="en-US" sz="1900" dirty="0"/>
          </a:p>
          <a:p>
            <a:pPr marL="342900" indent="-342900">
              <a:spcAft>
                <a:spcPts val="1200"/>
              </a:spcAft>
              <a:buSzPct val="100000"/>
              <a:buFont typeface="+mj-lt"/>
              <a:buAutoNum type="arabicPeriod" startAt="1"/>
            </a:pPr>
            <a:r>
              <a:rPr lang="en-US" sz="1900" dirty="0">
                <a:solidFill>
                  <a:schemeClr val="tx1"/>
                </a:solidFill>
              </a:rPr>
              <a:t>Record daily attendance: present, absent or on leave</a:t>
            </a:r>
            <a:endParaRPr lang="en-US" sz="1900" dirty="0"/>
          </a:p>
          <a:p>
            <a:pPr marL="342900" indent="-342900">
              <a:spcAft>
                <a:spcPts val="1200"/>
              </a:spcAft>
              <a:buSzPct val="100000"/>
              <a:buFont typeface="+mj-lt"/>
              <a:buAutoNum type="arabicPeriod" startAt="1"/>
            </a:pPr>
            <a:r>
              <a:rPr lang="en-US" sz="1900" dirty="0">
                <a:solidFill>
                  <a:schemeClr val="tx1"/>
                </a:solidFill>
              </a:rPr>
              <a:t>Calculate each month's salary, reducing basic pay for absences</a:t>
            </a:r>
            <a:endParaRPr lang="en-US" sz="1900" dirty="0"/>
          </a:p>
          <a:p>
            <a:pPr marL="342900" indent="-342900">
              <a:spcAft>
                <a:spcPts val="1200"/>
              </a:spcAft>
              <a:buSzPct val="100000"/>
              <a:buFont typeface="+mj-lt"/>
              <a:buAutoNum type="arabicPeriod" startAt="1"/>
            </a:pPr>
            <a:r>
              <a:rPr lang="en-US" sz="1900" dirty="0">
                <a:solidFill>
                  <a:schemeClr val="tx1"/>
                </a:solidFill>
              </a:rPr>
              <a:t>Review, verify and pay each payroll record</a:t>
            </a:r>
            <a:endParaRPr lang="en-US" sz="1900" dirty="0"/>
          </a:p>
          <a:p>
            <a:pPr marL="342900" indent="-342900">
              <a:spcAft>
                <a:spcPts val="1200"/>
              </a:spcAft>
              <a:buSzPct val="100000"/>
              <a:buFont typeface="+mj-lt"/>
              <a:buAutoNum type="arabicPeriod" startAt="1"/>
            </a:pPr>
            <a:r>
              <a:rPr lang="en-US" sz="1900" dirty="0">
                <a:solidFill>
                  <a:schemeClr val="tx1"/>
                </a:solidFill>
              </a:rPr>
              <a:t>Give every employee a payslip they can download as PDF</a:t>
            </a:r>
            <a:endParaRPr lang="en-US" sz="1900" dirty="0"/>
          </a:p>
          <a:p>
            <a:pPr marL="342900" indent="-342900">
              <a:spcAft>
                <a:spcPts val="1200"/>
              </a:spcAft>
              <a:buSzPct val="100000"/>
              <a:buFont typeface="+mj-lt"/>
              <a:buAutoNum type="arabicPeriod" startAt="1"/>
            </a:pPr>
            <a:r>
              <a:rPr lang="en-US" sz="1900" dirty="0">
                <a:solidFill>
                  <a:schemeClr val="tx1"/>
                </a:solidFill>
              </a:rPr>
              <a:t>Keep an audit trail of every payroll action</a:t>
            </a:r>
            <a:endParaRPr lang="en-US" sz="1900" dirty="0"/>
          </a:p>
        </p:txBody>
      </p:sp>
      <p:sp>
        <p:nvSpPr>
          <p:cNvPr id="5" name="Shape 2"/>
          <p:cNvSpPr/>
          <p:nvPr/>
        </p:nvSpPr>
        <p:spPr>
          <a:xfrm>
            <a:off x="7040880" y="1691640"/>
            <a:ext cx="4507992" cy="3429000"/>
          </a:xfrm>
          <a:prstGeom prst="rect">
            <a:avLst/>
          </a:prstGeom>
          <a:solidFill>
            <a:schemeClr val="bg2"/>
          </a:solidFill>
          <a:ln/>
        </p:spPr>
      </p:sp>
      <p:sp>
        <p:nvSpPr>
          <p:cNvPr id="6" name="Text 3"/>
          <p:cNvSpPr txBox="1"/>
          <p:nvPr/>
        </p:nvSpPr>
        <p:spPr>
          <a:xfrm>
            <a:off x="7360920" y="1920240"/>
            <a:ext cx="3931920" cy="365760"/>
          </a:xfrm>
          <a:prstGeom prst="rect">
            <a:avLst/>
          </a:prstGeom>
          <a:noFill/>
          <a:ln/>
        </p:spPr>
        <p:txBody>
          <a:bodyPr wrap="square" lIns="0" tIns="0" rIns="0" bIns="0" rtlCol="0" anchor="t"/>
          <a:lstStyle/>
          <a:p>
            <a:pPr indent="0" marL="0">
              <a:buNone/>
            </a:pPr>
            <a:r>
              <a:rPr lang="en-US" sz="2000" b="1" dirty="0">
                <a:solidFill>
                  <a:schemeClr val="tx2"/>
                </a:solidFill>
              </a:rPr>
              <a:t>Who uses it</a:t>
            </a:r>
            <a:endParaRPr lang="en-US" sz="2000" dirty="0"/>
          </a:p>
        </p:txBody>
      </p:sp>
      <p:sp>
        <p:nvSpPr>
          <p:cNvPr id="7" name="Text 4"/>
          <p:cNvSpPr txBox="1"/>
          <p:nvPr/>
        </p:nvSpPr>
        <p:spPr>
          <a:xfrm>
            <a:off x="7360920" y="2468880"/>
            <a:ext cx="3931920" cy="2560320"/>
          </a:xfrm>
          <a:prstGeom prst="rect">
            <a:avLst/>
          </a:prstGeom>
          <a:noFill/>
          <a:ln/>
        </p:spPr>
        <p:txBody>
          <a:bodyPr wrap="square" lIns="0" tIns="0" rIns="0" bIns="0" rtlCol="0" anchor="t"/>
          <a:lstStyle/>
          <a:p>
            <a:pPr indent="0" marL="0">
              <a:buNone/>
            </a:pPr>
            <a:r>
              <a:rPr lang="en-US" sz="1700" b="1" dirty="0">
                <a:solidFill>
                  <a:schemeClr val="tx2"/>
                </a:solidFill>
              </a:rPr>
              <a:t>Admin / HR</a:t>
            </a:r>
            <a:endParaRPr lang="en-US" sz="1700" dirty="0"/>
          </a:p>
          <a:p>
            <a:pPr indent="0" marL="0">
              <a:spcAft>
                <a:spcPts val="1400"/>
              </a:spcAft>
              <a:buNone/>
            </a:pPr>
            <a:r>
              <a:rPr lang="en-US" sz="1600" dirty="0">
                <a:solidFill>
                  <a:schemeClr val="tx1"/>
                </a:solidFill>
              </a:rPr>
              <a:t>Maintains the data, runs payroll and approves it</a:t>
            </a:r>
            <a:endParaRPr lang="en-US" sz="1700" dirty="0"/>
          </a:p>
          <a:p>
            <a:pPr indent="0" marL="0">
              <a:buNone/>
            </a:pPr>
            <a:r>
              <a:rPr lang="en-US" sz="1700" b="1" dirty="0">
                <a:solidFill>
                  <a:schemeClr val="tx2"/>
                </a:solidFill>
              </a:rPr>
              <a:t>Employee</a:t>
            </a:r>
            <a:endParaRPr lang="en-US" sz="1700" dirty="0"/>
          </a:p>
          <a:p>
            <a:pPr indent="0" marL="0">
              <a:spcAft>
                <a:spcPts val="1400"/>
              </a:spcAft>
              <a:buNone/>
            </a:pPr>
            <a:r>
              <a:rPr lang="en-US" sz="1600" dirty="0">
                <a:solidFill>
                  <a:schemeClr val="tx1"/>
                </a:solidFill>
              </a:rPr>
              <a:t>Sees their profile, attendance and verified payslips</a:t>
            </a:r>
            <a:endParaRPr lang="en-US" sz="1700" dirty="0"/>
          </a:p>
          <a:p>
            <a:pPr indent="0" marL="0">
              <a:buNone/>
            </a:pPr>
            <a:r>
              <a:rPr lang="en-US" sz="1700" b="1" dirty="0">
                <a:solidFill>
                  <a:schemeClr val="tx2"/>
                </a:solidFill>
              </a:rPr>
              <a:t>Payroll scheduler</a:t>
            </a:r>
            <a:endParaRPr lang="en-US" sz="1700" dirty="0"/>
          </a:p>
          <a:p>
            <a:pPr indent="0" marL="0">
              <a:spcAft>
                <a:spcPts val="1400"/>
              </a:spcAft>
              <a:buNone/>
            </a:pPr>
            <a:r>
              <a:rPr lang="en-US" sz="1600" dirty="0">
                <a:solidFill>
                  <a:schemeClr val="tx1"/>
                </a:solidFill>
              </a:rPr>
              <a:t>Runs the previous month's payroll on the 1st, while the app is open</a:t>
            </a:r>
            <a:endParaRPr lang="en-US" sz="17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A conventional Java stack: Swing, JDBC and MySQL</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11535" cy="914400"/>
        </p:xfrm>
        <a:graphic>
          <a:graphicData uri="http://schemas.openxmlformats.org/drawingml/2006/table">
            <a:tbl>
              <a:tblPr/>
              <a:tblGrid>
                <a:gridCol w="2194560"/>
                <a:gridCol w="2834640"/>
                <a:gridCol w="5882335"/>
              </a:tblGrid>
              <a:tr h="512064">
                <a:tc>
                  <a:txBody>
                    <a:bodyPr/>
                    <a:lstStyle/>
                    <a:p>
                      <a:pPr indent="0" marL="0">
                        <a:buNone/>
                      </a:pPr>
                      <a:r>
                        <a:rPr lang="en-US" sz="1600" b="1" dirty="0">
                          <a:solidFill>
                            <a:schemeClr val="bg1"/>
                          </a:solidFill>
                        </a:rPr>
                        <a:t>Concern</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Technology</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Used for</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600" b="1" dirty="0">
                          <a:solidFill>
                            <a:schemeClr val="tx1"/>
                          </a:solidFill>
                        </a:rPr>
                        <a:t>Interface</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Java Swing + FlatLaf</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Login window, admin dashboard, employee portal</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600" b="1" dirty="0">
                          <a:solidFill>
                            <a:schemeClr val="tx1"/>
                          </a:solidFill>
                        </a:rPr>
                        <a:t>Business logic</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Java 17 services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Payroll calculation, authentication, reports, scheduler</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600" b="1" dirty="0">
                          <a:solidFill>
                            <a:schemeClr val="tx1"/>
                          </a:solidFill>
                        </a:rPr>
                        <a:t>Data access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JDBC + HikariCP</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PreparedStatement DAOs, pooled connections, transactions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600" b="1" dirty="0">
                          <a:solidFill>
                            <a:schemeClr val="tx1"/>
                          </a:solidFill>
                        </a:rPr>
                        <a:t>Database</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MySQL</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Seven tables with foreign keys and unique constraints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600" b="1" dirty="0">
                          <a:solidFill>
                            <a:schemeClr val="tx1"/>
                          </a:solidFill>
                        </a:rPr>
                        <a:t>Passwords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jBCrypt</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Salted one-way password hashes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600" b="1" dirty="0">
                          <a:solidFill>
                            <a:schemeClr val="tx1"/>
                          </a:solidFill>
                        </a:rPr>
                        <a:t>Documents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OpenPDF</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Payslip PDF (CSV export is written by hand)</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600" b="1" dirty="0">
                          <a:solidFill>
                            <a:schemeClr val="tx1"/>
                          </a:solidFill>
                        </a:rPr>
                        <a:t>Build and test</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Maven, JUnit 5, H2</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19 automated tests plus a UI smoke test</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Four layers keep screens, business rules and SQL apart</a:t>
            </a:r>
            <a:endParaRPr lang="en-US" sz="3000" dirty="0"/>
          </a:p>
        </p:txBody>
      </p:sp>
      <p:sp>
        <p:nvSpPr>
          <p:cNvPr id="4" name="Shape 1"/>
          <p:cNvSpPr/>
          <p:nvPr/>
        </p:nvSpPr>
        <p:spPr>
          <a:xfrm>
            <a:off x="640080" y="1600200"/>
            <a:ext cx="6309360" cy="914400"/>
          </a:xfrm>
          <a:prstGeom prst="rect">
            <a:avLst/>
          </a:prstGeom>
          <a:solidFill>
            <a:schemeClr val="accent3"/>
          </a:solidFill>
          <a:ln/>
        </p:spPr>
      </p:sp>
      <p:sp>
        <p:nvSpPr>
          <p:cNvPr id="5" name="Text 2"/>
          <p:cNvSpPr txBox="1"/>
          <p:nvPr/>
        </p:nvSpPr>
        <p:spPr>
          <a:xfrm>
            <a:off x="822960" y="1673352"/>
            <a:ext cx="5943600" cy="292608"/>
          </a:xfrm>
          <a:prstGeom prst="rect">
            <a:avLst/>
          </a:prstGeom>
          <a:noFill/>
          <a:ln/>
        </p:spPr>
        <p:txBody>
          <a:bodyPr wrap="square" lIns="0" tIns="0" rIns="0" bIns="0" rtlCol="0" anchor="t"/>
          <a:lstStyle/>
          <a:p>
            <a:pPr indent="0" marL="0">
              <a:buNone/>
            </a:pPr>
            <a:r>
              <a:rPr lang="en-US" sz="1600" b="1" dirty="0">
                <a:solidFill>
                  <a:schemeClr val="bg1"/>
                </a:solidFill>
              </a:rPr>
              <a:t>Interface</a:t>
            </a:r>
            <a:endParaRPr lang="en-US" sz="1600" dirty="0"/>
          </a:p>
        </p:txBody>
      </p:sp>
      <p:sp>
        <p:nvSpPr>
          <p:cNvPr id="6" name="Text 3"/>
          <p:cNvSpPr txBox="1"/>
          <p:nvPr/>
        </p:nvSpPr>
        <p:spPr>
          <a:xfrm>
            <a:off x="822960" y="1984248"/>
            <a:ext cx="5943600" cy="512064"/>
          </a:xfrm>
          <a:prstGeom prst="rect">
            <a:avLst/>
          </a:prstGeom>
          <a:noFill/>
          <a:ln/>
        </p:spPr>
        <p:txBody>
          <a:bodyPr wrap="square" lIns="0" tIns="0" rIns="0" bIns="0" rtlCol="0" anchor="t"/>
          <a:lstStyle/>
          <a:p>
            <a:pPr indent="0" marL="0">
              <a:buNone/>
            </a:pPr>
            <a:r>
              <a:rPr lang="en-US" sz="1250" dirty="0">
                <a:solidFill>
                  <a:schemeClr val="bg1"/>
                </a:solidFill>
              </a:rPr>
              <a:t>LoginFrame · AdminDashboard · EmployeePortal · eight tab panels</a:t>
            </a:r>
            <a:endParaRPr lang="en-US" sz="1250" dirty="0"/>
          </a:p>
        </p:txBody>
      </p:sp>
      <p:sp>
        <p:nvSpPr>
          <p:cNvPr id="7" name="Shape 4"/>
          <p:cNvSpPr/>
          <p:nvPr/>
        </p:nvSpPr>
        <p:spPr>
          <a:xfrm>
            <a:off x="3794760" y="2532888"/>
            <a:ext cx="0" cy="274320"/>
          </a:xfrm>
          <a:prstGeom prst="line">
            <a:avLst/>
          </a:prstGeom>
          <a:noFill/>
          <a:ln w="22225">
            <a:solidFill>
              <a:schemeClr val="accent5"/>
            </a:solidFill>
            <a:prstDash val="solid"/>
            <a:tailEnd type="triangle"/>
          </a:ln>
        </p:spPr>
      </p:sp>
      <p:sp>
        <p:nvSpPr>
          <p:cNvPr id="8" name="Shape 5"/>
          <p:cNvSpPr/>
          <p:nvPr/>
        </p:nvSpPr>
        <p:spPr>
          <a:xfrm>
            <a:off x="640080" y="2825496"/>
            <a:ext cx="6309360" cy="914400"/>
          </a:xfrm>
          <a:prstGeom prst="rect">
            <a:avLst/>
          </a:prstGeom>
          <a:solidFill>
            <a:schemeClr val="accent1"/>
          </a:solidFill>
          <a:ln/>
        </p:spPr>
      </p:sp>
      <p:sp>
        <p:nvSpPr>
          <p:cNvPr id="9" name="Text 6"/>
          <p:cNvSpPr txBox="1"/>
          <p:nvPr/>
        </p:nvSpPr>
        <p:spPr>
          <a:xfrm>
            <a:off x="822960" y="2898648"/>
            <a:ext cx="5943600" cy="292608"/>
          </a:xfrm>
          <a:prstGeom prst="rect">
            <a:avLst/>
          </a:prstGeom>
          <a:noFill/>
          <a:ln/>
        </p:spPr>
        <p:txBody>
          <a:bodyPr wrap="square" lIns="0" tIns="0" rIns="0" bIns="0" rtlCol="0" anchor="t"/>
          <a:lstStyle/>
          <a:p>
            <a:pPr indent="0" marL="0">
              <a:buNone/>
            </a:pPr>
            <a:r>
              <a:rPr lang="en-US" sz="1600" b="1" dirty="0">
                <a:solidFill>
                  <a:schemeClr val="bg1"/>
                </a:solidFill>
              </a:rPr>
              <a:t>Services</a:t>
            </a:r>
            <a:endParaRPr lang="en-US" sz="1600" dirty="0"/>
          </a:p>
        </p:txBody>
      </p:sp>
      <p:sp>
        <p:nvSpPr>
          <p:cNvPr id="10" name="Text 7"/>
          <p:cNvSpPr txBox="1"/>
          <p:nvPr/>
        </p:nvSpPr>
        <p:spPr>
          <a:xfrm>
            <a:off x="822960" y="3209544"/>
            <a:ext cx="5943600" cy="512064"/>
          </a:xfrm>
          <a:prstGeom prst="rect">
            <a:avLst/>
          </a:prstGeom>
          <a:noFill/>
          <a:ln/>
        </p:spPr>
        <p:txBody>
          <a:bodyPr wrap="square" lIns="0" tIns="0" rIns="0" bIns="0" rtlCol="0" anchor="t"/>
          <a:lstStyle/>
          <a:p>
            <a:pPr indent="0" marL="0">
              <a:buNone/>
            </a:pPr>
            <a:r>
              <a:rPr lang="en-US" sz="1250" dirty="0">
                <a:solidFill>
                  <a:schemeClr val="bg1"/>
                </a:solidFill>
              </a:rPr>
              <a:t>AuthService · EmployeeService · AttendanceService · PayrollService · PayrollCalculator · ReportService · PayslipService · PayrollScheduler</a:t>
            </a:r>
            <a:endParaRPr lang="en-US" sz="1250" dirty="0"/>
          </a:p>
        </p:txBody>
      </p:sp>
      <p:sp>
        <p:nvSpPr>
          <p:cNvPr id="11" name="Shape 8"/>
          <p:cNvSpPr/>
          <p:nvPr/>
        </p:nvSpPr>
        <p:spPr>
          <a:xfrm>
            <a:off x="3794760" y="3758184"/>
            <a:ext cx="0" cy="274320"/>
          </a:xfrm>
          <a:prstGeom prst="line">
            <a:avLst/>
          </a:prstGeom>
          <a:noFill/>
          <a:ln w="22225">
            <a:solidFill>
              <a:schemeClr val="accent5"/>
            </a:solidFill>
            <a:prstDash val="solid"/>
            <a:tailEnd type="triangle"/>
          </a:ln>
        </p:spPr>
      </p:sp>
      <p:sp>
        <p:nvSpPr>
          <p:cNvPr id="12" name="Shape 9"/>
          <p:cNvSpPr/>
          <p:nvPr/>
        </p:nvSpPr>
        <p:spPr>
          <a:xfrm>
            <a:off x="640080" y="4050792"/>
            <a:ext cx="6309360" cy="914400"/>
          </a:xfrm>
          <a:prstGeom prst="rect">
            <a:avLst/>
          </a:prstGeom>
          <a:solidFill>
            <a:schemeClr val="tx2"/>
          </a:solidFill>
          <a:ln/>
        </p:spPr>
      </p:sp>
      <p:sp>
        <p:nvSpPr>
          <p:cNvPr id="13" name="Text 10"/>
          <p:cNvSpPr txBox="1"/>
          <p:nvPr/>
        </p:nvSpPr>
        <p:spPr>
          <a:xfrm>
            <a:off x="822960" y="4123944"/>
            <a:ext cx="5943600" cy="292608"/>
          </a:xfrm>
          <a:prstGeom prst="rect">
            <a:avLst/>
          </a:prstGeom>
          <a:noFill/>
          <a:ln/>
        </p:spPr>
        <p:txBody>
          <a:bodyPr wrap="square" lIns="0" tIns="0" rIns="0" bIns="0" rtlCol="0" anchor="t"/>
          <a:lstStyle/>
          <a:p>
            <a:pPr indent="0" marL="0">
              <a:buNone/>
            </a:pPr>
            <a:r>
              <a:rPr lang="en-US" sz="1600" b="1" dirty="0">
                <a:solidFill>
                  <a:schemeClr val="bg1"/>
                </a:solidFill>
              </a:rPr>
              <a:t>Data access</a:t>
            </a:r>
            <a:endParaRPr lang="en-US" sz="1600" dirty="0"/>
          </a:p>
        </p:txBody>
      </p:sp>
      <p:sp>
        <p:nvSpPr>
          <p:cNvPr id="14" name="Text 11"/>
          <p:cNvSpPr txBox="1"/>
          <p:nvPr/>
        </p:nvSpPr>
        <p:spPr>
          <a:xfrm>
            <a:off x="822960" y="4434840"/>
            <a:ext cx="5943600" cy="512064"/>
          </a:xfrm>
          <a:prstGeom prst="rect">
            <a:avLst/>
          </a:prstGeom>
          <a:noFill/>
          <a:ln/>
        </p:spPr>
        <p:txBody>
          <a:bodyPr wrap="square" lIns="0" tIns="0" rIns="0" bIns="0" rtlCol="0" anchor="t"/>
          <a:lstStyle/>
          <a:p>
            <a:pPr indent="0" marL="0">
              <a:buNone/>
            </a:pPr>
            <a:r>
              <a:rPr lang="en-US" sz="1250" dirty="0">
                <a:solidFill>
                  <a:schemeClr val="bg1"/>
                </a:solidFill>
              </a:rPr>
              <a:t>UserDAO · EmployeeDAO · DepartmentDAO · SalaryStructureDAO · AttendanceDAO · PayrollDAO · AuditDAO</a:t>
            </a:r>
            <a:endParaRPr lang="en-US" sz="1250" dirty="0"/>
          </a:p>
        </p:txBody>
      </p:sp>
      <p:sp>
        <p:nvSpPr>
          <p:cNvPr id="15" name="Shape 12"/>
          <p:cNvSpPr/>
          <p:nvPr/>
        </p:nvSpPr>
        <p:spPr>
          <a:xfrm>
            <a:off x="3794760" y="4983480"/>
            <a:ext cx="0" cy="274320"/>
          </a:xfrm>
          <a:prstGeom prst="line">
            <a:avLst/>
          </a:prstGeom>
          <a:noFill/>
          <a:ln w="22225">
            <a:solidFill>
              <a:schemeClr val="accent5"/>
            </a:solidFill>
            <a:prstDash val="solid"/>
            <a:tailEnd type="triangle"/>
          </a:ln>
        </p:spPr>
      </p:sp>
      <p:sp>
        <p:nvSpPr>
          <p:cNvPr id="16" name="Shape 13"/>
          <p:cNvSpPr/>
          <p:nvPr/>
        </p:nvSpPr>
        <p:spPr>
          <a:xfrm>
            <a:off x="640080" y="5276088"/>
            <a:ext cx="6309360" cy="914400"/>
          </a:xfrm>
          <a:prstGeom prst="rect">
            <a:avLst/>
          </a:prstGeom>
          <a:solidFill>
            <a:schemeClr val="accent2"/>
          </a:solidFill>
          <a:ln/>
        </p:spPr>
      </p:sp>
      <p:sp>
        <p:nvSpPr>
          <p:cNvPr id="17" name="Text 14"/>
          <p:cNvSpPr txBox="1"/>
          <p:nvPr/>
        </p:nvSpPr>
        <p:spPr>
          <a:xfrm>
            <a:off x="822960" y="5349240"/>
            <a:ext cx="5943600" cy="292608"/>
          </a:xfrm>
          <a:prstGeom prst="rect">
            <a:avLst/>
          </a:prstGeom>
          <a:noFill/>
          <a:ln/>
        </p:spPr>
        <p:txBody>
          <a:bodyPr wrap="square" lIns="0" tIns="0" rIns="0" bIns="0" rtlCol="0" anchor="t"/>
          <a:lstStyle/>
          <a:p>
            <a:pPr indent="0" marL="0">
              <a:buNone/>
            </a:pPr>
            <a:r>
              <a:rPr lang="en-US" sz="1600" b="1" dirty="0">
                <a:solidFill>
                  <a:schemeClr val="bg1"/>
                </a:solidFill>
              </a:rPr>
              <a:t>Database</a:t>
            </a:r>
            <a:endParaRPr lang="en-US" sz="1600" dirty="0"/>
          </a:p>
        </p:txBody>
      </p:sp>
      <p:sp>
        <p:nvSpPr>
          <p:cNvPr id="18" name="Text 15"/>
          <p:cNvSpPr txBox="1"/>
          <p:nvPr/>
        </p:nvSpPr>
        <p:spPr>
          <a:xfrm>
            <a:off x="822960" y="5660136"/>
            <a:ext cx="5943600" cy="512064"/>
          </a:xfrm>
          <a:prstGeom prst="rect">
            <a:avLst/>
          </a:prstGeom>
          <a:noFill/>
          <a:ln/>
        </p:spPr>
        <p:txBody>
          <a:bodyPr wrap="square" lIns="0" tIns="0" rIns="0" bIns="0" rtlCol="0" anchor="t"/>
          <a:lstStyle/>
          <a:p>
            <a:pPr indent="0" marL="0">
              <a:buNone/>
            </a:pPr>
            <a:r>
              <a:rPr lang="en-US" sz="1250" dirty="0">
                <a:solidFill>
                  <a:schemeClr val="bg1"/>
                </a:solidFill>
              </a:rPr>
              <a:t>MySQL, reached through DBConnection (HikariCP pool and transactions)</a:t>
            </a:r>
            <a:endParaRPr lang="en-US" sz="1250" dirty="0"/>
          </a:p>
        </p:txBody>
      </p:sp>
      <p:sp>
        <p:nvSpPr>
          <p:cNvPr id="19" name="Text 16"/>
          <p:cNvSpPr txBox="1"/>
          <p:nvPr/>
        </p:nvSpPr>
        <p:spPr>
          <a:xfrm>
            <a:off x="7406640" y="1600200"/>
            <a:ext cx="4144975" cy="4572000"/>
          </a:xfrm>
          <a:prstGeom prst="rect">
            <a:avLst/>
          </a:prstGeom>
          <a:noFill/>
          <a:ln/>
        </p:spPr>
        <p:txBody>
          <a:bodyPr wrap="square" lIns="0" tIns="0" rIns="0" bIns="0" rtlCol="0" anchor="t"/>
          <a:lstStyle/>
          <a:p>
            <a:pPr indent="0" marL="0">
              <a:buNone/>
            </a:pPr>
            <a:r>
              <a:rPr lang="en-US" sz="1700" b="1" dirty="0">
                <a:solidFill>
                  <a:schemeClr val="tx2"/>
                </a:solidFill>
              </a:rPr>
              <a:t>Screens call services, never SQL</a:t>
            </a:r>
            <a:endParaRPr lang="en-US" sz="1700" dirty="0"/>
          </a:p>
          <a:p>
            <a:pPr indent="0" marL="0">
              <a:spcAft>
                <a:spcPts val="1600"/>
              </a:spcAft>
              <a:buNone/>
            </a:pPr>
            <a:r>
              <a:rPr lang="en-US" sz="1500" dirty="0">
                <a:solidFill>
                  <a:schemeClr val="tx1"/>
                </a:solidFill>
              </a:rPr>
              <a:t>Slow work runs in a SwingWorker, so the window never freezes.</a:t>
            </a:r>
            <a:endParaRPr lang="en-US" sz="1700" dirty="0"/>
          </a:p>
          <a:p>
            <a:pPr indent="0" marL="0">
              <a:buNone/>
            </a:pPr>
            <a:r>
              <a:rPr lang="en-US" sz="1700" b="1" dirty="0">
                <a:solidFill>
                  <a:schemeClr val="tx2"/>
                </a:solidFill>
              </a:rPr>
              <a:t>Services own the rules</a:t>
            </a:r>
            <a:endParaRPr lang="en-US" sz="1700" dirty="0"/>
          </a:p>
          <a:p>
            <a:pPr indent="0" marL="0">
              <a:spcAft>
                <a:spcPts val="1600"/>
              </a:spcAft>
              <a:buNone/>
            </a:pPr>
            <a:r>
              <a:rPr lang="en-US" sz="1500" dirty="0">
                <a:solidFill>
                  <a:schemeClr val="tx1"/>
                </a:solidFill>
              </a:rPr>
              <a:t>Validation, status changes and the salary formula live here. PayrollCalculator has no database access.</a:t>
            </a:r>
            <a:endParaRPr lang="en-US" sz="1700" dirty="0"/>
          </a:p>
          <a:p>
            <a:pPr indent="0" marL="0">
              <a:buNone/>
            </a:pPr>
            <a:r>
              <a:rPr lang="en-US" sz="1700" b="1" dirty="0">
                <a:solidFill>
                  <a:schemeClr val="tx2"/>
                </a:solidFill>
              </a:rPr>
              <a:t>DAOs only run SQL</a:t>
            </a:r>
            <a:endParaRPr lang="en-US" sz="1700" dirty="0"/>
          </a:p>
          <a:p>
            <a:pPr indent="0" marL="0">
              <a:spcAft>
                <a:spcPts val="1600"/>
              </a:spcAft>
              <a:buNone/>
            </a:pPr>
            <a:r>
              <a:rPr lang="en-US" sz="1500" dirty="0">
                <a:solidFill>
                  <a:schemeClr val="tx1"/>
                </a:solidFill>
              </a:rPr>
              <a:t>Every query is a PreparedStatement. Inside inTransaction, all DAO calls share one connection and commit or roll back together.</a:t>
            </a:r>
            <a:endParaRPr lang="en-US" sz="17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Seven tables hold everything, and payroll is unique per employee and month</a:t>
            </a:r>
            <a:endParaRPr lang="en-US" sz="3000" dirty="0"/>
          </a:p>
        </p:txBody>
      </p:sp>
      <p:sp>
        <p:nvSpPr>
          <p:cNvPr id="4" name="Shape 1"/>
          <p:cNvSpPr/>
          <p:nvPr/>
        </p:nvSpPr>
        <p:spPr>
          <a:xfrm>
            <a:off x="640080" y="1600200"/>
            <a:ext cx="2606040" cy="347472"/>
          </a:xfrm>
          <a:prstGeom prst="rect">
            <a:avLst/>
          </a:prstGeom>
          <a:solidFill>
            <a:schemeClr val="tx2"/>
          </a:solidFill>
          <a:ln/>
        </p:spPr>
      </p:sp>
      <p:sp>
        <p:nvSpPr>
          <p:cNvPr id="5" name="Text 2"/>
          <p:cNvSpPr txBox="1"/>
          <p:nvPr/>
        </p:nvSpPr>
        <p:spPr>
          <a:xfrm>
            <a:off x="749808" y="1645920"/>
            <a:ext cx="2386584" cy="274320"/>
          </a:xfrm>
          <a:prstGeom prst="rect">
            <a:avLst/>
          </a:prstGeom>
          <a:noFill/>
          <a:ln/>
        </p:spPr>
        <p:txBody>
          <a:bodyPr wrap="square" lIns="0" tIns="0" rIns="0" bIns="0" rtlCol="0" anchor="t"/>
          <a:lstStyle/>
          <a:p>
            <a:pPr indent="0" marL="0">
              <a:buNone/>
            </a:pPr>
            <a:r>
              <a:rPr lang="en-US" sz="1400" b="1" dirty="0">
                <a:solidFill>
                  <a:schemeClr val="bg1"/>
                </a:solidFill>
              </a:rPr>
              <a:t>users</a:t>
            </a:r>
            <a:endParaRPr lang="en-US" sz="1400" dirty="0"/>
          </a:p>
        </p:txBody>
      </p:sp>
      <p:sp>
        <p:nvSpPr>
          <p:cNvPr id="6" name="Shape 3"/>
          <p:cNvSpPr/>
          <p:nvPr/>
        </p:nvSpPr>
        <p:spPr>
          <a:xfrm>
            <a:off x="640080" y="1947672"/>
            <a:ext cx="2606040" cy="1344168"/>
          </a:xfrm>
          <a:prstGeom prst="rect">
            <a:avLst/>
          </a:prstGeom>
          <a:solidFill>
            <a:schemeClr val="bg2"/>
          </a:solidFill>
          <a:ln/>
        </p:spPr>
      </p:sp>
      <p:sp>
        <p:nvSpPr>
          <p:cNvPr id="7" name="Text 4"/>
          <p:cNvSpPr txBox="1"/>
          <p:nvPr/>
        </p:nvSpPr>
        <p:spPr>
          <a:xfrm>
            <a:off x="749808" y="2020824"/>
            <a:ext cx="2386584" cy="1234440"/>
          </a:xfrm>
          <a:prstGeom prst="rect">
            <a:avLst/>
          </a:prstGeom>
          <a:noFill/>
          <a:ln/>
        </p:spPr>
        <p:txBody>
          <a:bodyPr wrap="square" lIns="0" tIns="0" rIns="0" bIns="0" rtlCol="0" anchor="t"/>
          <a:lstStyle/>
          <a:p>
            <a:pPr indent="0" marL="0">
              <a:buNone/>
            </a:pPr>
            <a:r>
              <a:rPr lang="en-US" sz="1250" dirty="0">
                <a:solidFill>
                  <a:schemeClr val="tx1"/>
                </a:solidFill>
              </a:rPr>
              <a:t>id (PK)</a:t>
            </a:r>
            <a:endParaRPr lang="en-US" sz="1250" dirty="0"/>
          </a:p>
          <a:p>
            <a:pPr indent="0" marL="0">
              <a:buNone/>
            </a:pPr>
            <a:r>
              <a:rPr lang="en-US" sz="1250" dirty="0">
                <a:solidFill>
                  <a:schemeClr val="tx1"/>
                </a:solidFill>
              </a:rPr>
              <a:t>name, email, username</a:t>
            </a:r>
            <a:endParaRPr lang="en-US" sz="1250" dirty="0"/>
          </a:p>
          <a:p>
            <a:pPr indent="0" marL="0">
              <a:buNone/>
            </a:pPr>
            <a:r>
              <a:rPr lang="en-US" sz="1250" dirty="0">
                <a:solidFill>
                  <a:schemeClr val="tx1"/>
                </a:solidFill>
              </a:rPr>
              <a:t>password_hash, role</a:t>
            </a:r>
            <a:endParaRPr lang="en-US" sz="1250" dirty="0"/>
          </a:p>
          <a:p>
            <a:pPr indent="0" marL="0">
              <a:buNone/>
            </a:pPr>
            <a:r>
              <a:rPr lang="en-US" sz="1250" dirty="0">
                <a:solidFill>
                  <a:schemeClr val="tx1"/>
                </a:solidFill>
              </a:rPr>
              <a:t>failed_attempts, locked_until</a:t>
            </a:r>
            <a:endParaRPr lang="en-US" sz="1250" dirty="0"/>
          </a:p>
        </p:txBody>
      </p:sp>
      <p:sp>
        <p:nvSpPr>
          <p:cNvPr id="8" name="Shape 5"/>
          <p:cNvSpPr/>
          <p:nvPr/>
        </p:nvSpPr>
        <p:spPr>
          <a:xfrm>
            <a:off x="3474720" y="1600200"/>
            <a:ext cx="2606040" cy="347472"/>
          </a:xfrm>
          <a:prstGeom prst="rect">
            <a:avLst/>
          </a:prstGeom>
          <a:solidFill>
            <a:schemeClr val="tx2"/>
          </a:solidFill>
          <a:ln/>
        </p:spPr>
      </p:sp>
      <p:sp>
        <p:nvSpPr>
          <p:cNvPr id="9" name="Text 6"/>
          <p:cNvSpPr txBox="1"/>
          <p:nvPr/>
        </p:nvSpPr>
        <p:spPr>
          <a:xfrm>
            <a:off x="3584448" y="1645920"/>
            <a:ext cx="2386584" cy="274320"/>
          </a:xfrm>
          <a:prstGeom prst="rect">
            <a:avLst/>
          </a:prstGeom>
          <a:noFill/>
          <a:ln/>
        </p:spPr>
        <p:txBody>
          <a:bodyPr wrap="square" lIns="0" tIns="0" rIns="0" bIns="0" rtlCol="0" anchor="t"/>
          <a:lstStyle/>
          <a:p>
            <a:pPr indent="0" marL="0">
              <a:buNone/>
            </a:pPr>
            <a:r>
              <a:rPr lang="en-US" sz="1400" b="1" dirty="0">
                <a:solidFill>
                  <a:schemeClr val="bg1"/>
                </a:solidFill>
              </a:rPr>
              <a:t>employee</a:t>
            </a:r>
            <a:endParaRPr lang="en-US" sz="1400" dirty="0"/>
          </a:p>
        </p:txBody>
      </p:sp>
      <p:sp>
        <p:nvSpPr>
          <p:cNvPr id="10" name="Shape 7"/>
          <p:cNvSpPr/>
          <p:nvPr/>
        </p:nvSpPr>
        <p:spPr>
          <a:xfrm>
            <a:off x="3474720" y="1947672"/>
            <a:ext cx="2606040" cy="1344168"/>
          </a:xfrm>
          <a:prstGeom prst="rect">
            <a:avLst/>
          </a:prstGeom>
          <a:solidFill>
            <a:schemeClr val="bg2"/>
          </a:solidFill>
          <a:ln/>
        </p:spPr>
      </p:sp>
      <p:sp>
        <p:nvSpPr>
          <p:cNvPr id="11" name="Text 8"/>
          <p:cNvSpPr txBox="1"/>
          <p:nvPr/>
        </p:nvSpPr>
        <p:spPr>
          <a:xfrm>
            <a:off x="3584448" y="2020824"/>
            <a:ext cx="2386584" cy="1234440"/>
          </a:xfrm>
          <a:prstGeom prst="rect">
            <a:avLst/>
          </a:prstGeom>
          <a:noFill/>
          <a:ln/>
        </p:spPr>
        <p:txBody>
          <a:bodyPr wrap="square" lIns="0" tIns="0" rIns="0" bIns="0" rtlCol="0" anchor="t"/>
          <a:lstStyle/>
          <a:p>
            <a:pPr indent="0" marL="0">
              <a:buNone/>
            </a:pPr>
            <a:r>
              <a:rPr lang="en-US" sz="1250" dirty="0">
                <a:solidFill>
                  <a:schemeClr val="tx1"/>
                </a:solidFill>
              </a:rPr>
              <a:t>emp_id (PK, FK to users)</a:t>
            </a:r>
            <a:endParaRPr lang="en-US" sz="1250" dirty="0"/>
          </a:p>
          <a:p>
            <a:pPr indent="0" marL="0">
              <a:buNone/>
            </a:pPr>
            <a:r>
              <a:rPr lang="en-US" sz="1250" dirty="0">
                <a:solidFill>
                  <a:schemeClr val="tx1"/>
                </a:solidFill>
              </a:rPr>
              <a:t>designation, joining_date</a:t>
            </a:r>
            <a:endParaRPr lang="en-US" sz="1250" dirty="0"/>
          </a:p>
          <a:p>
            <a:pPr indent="0" marL="0">
              <a:buNone/>
            </a:pPr>
            <a:r>
              <a:rPr lang="en-US" sz="1250" dirty="0">
                <a:solidFill>
                  <a:schemeClr val="tx1"/>
                </a:solidFill>
              </a:rPr>
              <a:t>basic_salary, is_active</a:t>
            </a:r>
            <a:endParaRPr lang="en-US" sz="1250" dirty="0"/>
          </a:p>
          <a:p>
            <a:pPr indent="0" marL="0">
              <a:buNone/>
            </a:pPr>
            <a:r>
              <a:rPr lang="en-US" sz="1250" dirty="0">
                <a:solidFill>
                  <a:schemeClr val="tx1"/>
                </a:solidFill>
              </a:rPr>
              <a:t>dept_id (FK)</a:t>
            </a:r>
            <a:endParaRPr lang="en-US" sz="1250" dirty="0"/>
          </a:p>
        </p:txBody>
      </p:sp>
      <p:sp>
        <p:nvSpPr>
          <p:cNvPr id="12" name="Shape 9"/>
          <p:cNvSpPr/>
          <p:nvPr/>
        </p:nvSpPr>
        <p:spPr>
          <a:xfrm>
            <a:off x="6309360" y="1600200"/>
            <a:ext cx="2606040" cy="347472"/>
          </a:xfrm>
          <a:prstGeom prst="rect">
            <a:avLst/>
          </a:prstGeom>
          <a:solidFill>
            <a:schemeClr val="tx2"/>
          </a:solidFill>
          <a:ln/>
        </p:spPr>
      </p:sp>
      <p:sp>
        <p:nvSpPr>
          <p:cNvPr id="13" name="Text 10"/>
          <p:cNvSpPr txBox="1"/>
          <p:nvPr/>
        </p:nvSpPr>
        <p:spPr>
          <a:xfrm>
            <a:off x="6419088" y="1645920"/>
            <a:ext cx="2386584" cy="274320"/>
          </a:xfrm>
          <a:prstGeom prst="rect">
            <a:avLst/>
          </a:prstGeom>
          <a:noFill/>
          <a:ln/>
        </p:spPr>
        <p:txBody>
          <a:bodyPr wrap="square" lIns="0" tIns="0" rIns="0" bIns="0" rtlCol="0" anchor="t"/>
          <a:lstStyle/>
          <a:p>
            <a:pPr indent="0" marL="0">
              <a:buNone/>
            </a:pPr>
            <a:r>
              <a:rPr lang="en-US" sz="1400" b="1" dirty="0">
                <a:solidFill>
                  <a:schemeClr val="bg1"/>
                </a:solidFill>
              </a:rPr>
              <a:t>department</a:t>
            </a:r>
            <a:endParaRPr lang="en-US" sz="1400" dirty="0"/>
          </a:p>
        </p:txBody>
      </p:sp>
      <p:sp>
        <p:nvSpPr>
          <p:cNvPr id="14" name="Shape 11"/>
          <p:cNvSpPr/>
          <p:nvPr/>
        </p:nvSpPr>
        <p:spPr>
          <a:xfrm>
            <a:off x="6309360" y="1947672"/>
            <a:ext cx="2606040" cy="1344168"/>
          </a:xfrm>
          <a:prstGeom prst="rect">
            <a:avLst/>
          </a:prstGeom>
          <a:solidFill>
            <a:schemeClr val="bg2"/>
          </a:solidFill>
          <a:ln/>
        </p:spPr>
      </p:sp>
      <p:sp>
        <p:nvSpPr>
          <p:cNvPr id="15" name="Text 12"/>
          <p:cNvSpPr txBox="1"/>
          <p:nvPr/>
        </p:nvSpPr>
        <p:spPr>
          <a:xfrm>
            <a:off x="6419088" y="2020824"/>
            <a:ext cx="2386584" cy="1234440"/>
          </a:xfrm>
          <a:prstGeom prst="rect">
            <a:avLst/>
          </a:prstGeom>
          <a:noFill/>
          <a:ln/>
        </p:spPr>
        <p:txBody>
          <a:bodyPr wrap="square" lIns="0" tIns="0" rIns="0" bIns="0" rtlCol="0" anchor="t"/>
          <a:lstStyle/>
          <a:p>
            <a:pPr indent="0" marL="0">
              <a:buNone/>
            </a:pPr>
            <a:r>
              <a:rPr lang="en-US" sz="1250" dirty="0">
                <a:solidFill>
                  <a:schemeClr val="tx1"/>
                </a:solidFill>
              </a:rPr>
              <a:t>dept_id (PK)</a:t>
            </a:r>
            <a:endParaRPr lang="en-US" sz="1250" dirty="0"/>
          </a:p>
          <a:p>
            <a:pPr indent="0" marL="0">
              <a:buNone/>
            </a:pPr>
            <a:r>
              <a:rPr lang="en-US" sz="1250" dirty="0">
                <a:solidFill>
                  <a:schemeClr val="tx1"/>
                </a:solidFill>
              </a:rPr>
              <a:t>dept_name (unique)</a:t>
            </a:r>
            <a:endParaRPr lang="en-US" sz="1250" dirty="0"/>
          </a:p>
          <a:p>
            <a:pPr indent="0" marL="0">
              <a:buNone/>
            </a:pPr>
            <a:r>
              <a:rPr lang="en-US" sz="1250" dirty="0">
                <a:solidFill>
                  <a:schemeClr val="tx1"/>
                </a:solidFill>
              </a:rPr>
              <a:t>location</a:t>
            </a:r>
            <a:endParaRPr lang="en-US" sz="1250" dirty="0"/>
          </a:p>
        </p:txBody>
      </p:sp>
      <p:sp>
        <p:nvSpPr>
          <p:cNvPr id="16" name="Shape 13"/>
          <p:cNvSpPr/>
          <p:nvPr/>
        </p:nvSpPr>
        <p:spPr>
          <a:xfrm>
            <a:off x="640080" y="4069080"/>
            <a:ext cx="2606040" cy="347472"/>
          </a:xfrm>
          <a:prstGeom prst="rect">
            <a:avLst/>
          </a:prstGeom>
          <a:solidFill>
            <a:schemeClr val="tx2"/>
          </a:solidFill>
          <a:ln/>
        </p:spPr>
      </p:sp>
      <p:sp>
        <p:nvSpPr>
          <p:cNvPr id="17" name="Text 14"/>
          <p:cNvSpPr txBox="1"/>
          <p:nvPr/>
        </p:nvSpPr>
        <p:spPr>
          <a:xfrm>
            <a:off x="749808" y="4114800"/>
            <a:ext cx="2386584" cy="274320"/>
          </a:xfrm>
          <a:prstGeom prst="rect">
            <a:avLst/>
          </a:prstGeom>
          <a:noFill/>
          <a:ln/>
        </p:spPr>
        <p:txBody>
          <a:bodyPr wrap="square" lIns="0" tIns="0" rIns="0" bIns="0" rtlCol="0" anchor="t"/>
          <a:lstStyle/>
          <a:p>
            <a:pPr indent="0" marL="0">
              <a:buNone/>
            </a:pPr>
            <a:r>
              <a:rPr lang="en-US" sz="1400" b="1" dirty="0">
                <a:solidFill>
                  <a:schemeClr val="bg1"/>
                </a:solidFill>
              </a:rPr>
              <a:t>salary_structure</a:t>
            </a:r>
            <a:endParaRPr lang="en-US" sz="1400" dirty="0"/>
          </a:p>
        </p:txBody>
      </p:sp>
      <p:sp>
        <p:nvSpPr>
          <p:cNvPr id="18" name="Shape 15"/>
          <p:cNvSpPr/>
          <p:nvPr/>
        </p:nvSpPr>
        <p:spPr>
          <a:xfrm>
            <a:off x="640080" y="4416552"/>
            <a:ext cx="2606040" cy="1435608"/>
          </a:xfrm>
          <a:prstGeom prst="rect">
            <a:avLst/>
          </a:prstGeom>
          <a:solidFill>
            <a:schemeClr val="bg2"/>
          </a:solidFill>
          <a:ln/>
        </p:spPr>
      </p:sp>
      <p:sp>
        <p:nvSpPr>
          <p:cNvPr id="19" name="Text 16"/>
          <p:cNvSpPr txBox="1"/>
          <p:nvPr/>
        </p:nvSpPr>
        <p:spPr>
          <a:xfrm>
            <a:off x="749808" y="4489704"/>
            <a:ext cx="2386584" cy="1325880"/>
          </a:xfrm>
          <a:prstGeom prst="rect">
            <a:avLst/>
          </a:prstGeom>
          <a:noFill/>
          <a:ln/>
        </p:spPr>
        <p:txBody>
          <a:bodyPr wrap="square" lIns="0" tIns="0" rIns="0" bIns="0" rtlCol="0" anchor="t"/>
          <a:lstStyle/>
          <a:p>
            <a:pPr indent="0" marL="0">
              <a:buNone/>
            </a:pPr>
            <a:r>
              <a:rPr lang="en-US" sz="1250" dirty="0">
                <a:solidFill>
                  <a:schemeClr val="tx1"/>
                </a:solidFill>
              </a:rPr>
              <a:t>emp_id (unique, FK)</a:t>
            </a:r>
            <a:endParaRPr lang="en-US" sz="1250" dirty="0"/>
          </a:p>
          <a:p>
            <a:pPr indent="0" marL="0">
              <a:buNone/>
            </a:pPr>
            <a:r>
              <a:rPr lang="en-US" sz="1250" dirty="0">
                <a:solidFill>
                  <a:schemeClr val="tx1"/>
                </a:solidFill>
              </a:rPr>
              <a:t>hra_percent, da_percent</a:t>
            </a:r>
            <a:endParaRPr lang="en-US" sz="1250" dirty="0"/>
          </a:p>
          <a:p>
            <a:pPr indent="0" marL="0">
              <a:buNone/>
            </a:pPr>
            <a:r>
              <a:rPr lang="en-US" sz="1250" dirty="0">
                <a:solidFill>
                  <a:schemeClr val="tx1"/>
                </a:solidFill>
              </a:rPr>
              <a:t>pf_percent, tax_percent</a:t>
            </a:r>
            <a:endParaRPr lang="en-US" sz="1250" dirty="0"/>
          </a:p>
        </p:txBody>
      </p:sp>
      <p:sp>
        <p:nvSpPr>
          <p:cNvPr id="20" name="Shape 17"/>
          <p:cNvSpPr/>
          <p:nvPr/>
        </p:nvSpPr>
        <p:spPr>
          <a:xfrm>
            <a:off x="3474720" y="4069080"/>
            <a:ext cx="2606040" cy="347472"/>
          </a:xfrm>
          <a:prstGeom prst="rect">
            <a:avLst/>
          </a:prstGeom>
          <a:solidFill>
            <a:schemeClr val="tx2"/>
          </a:solidFill>
          <a:ln/>
        </p:spPr>
      </p:sp>
      <p:sp>
        <p:nvSpPr>
          <p:cNvPr id="21" name="Text 18"/>
          <p:cNvSpPr txBox="1"/>
          <p:nvPr/>
        </p:nvSpPr>
        <p:spPr>
          <a:xfrm>
            <a:off x="3584448" y="4114800"/>
            <a:ext cx="2386584" cy="274320"/>
          </a:xfrm>
          <a:prstGeom prst="rect">
            <a:avLst/>
          </a:prstGeom>
          <a:noFill/>
          <a:ln/>
        </p:spPr>
        <p:txBody>
          <a:bodyPr wrap="square" lIns="0" tIns="0" rIns="0" bIns="0" rtlCol="0" anchor="t"/>
          <a:lstStyle/>
          <a:p>
            <a:pPr indent="0" marL="0">
              <a:buNone/>
            </a:pPr>
            <a:r>
              <a:rPr lang="en-US" sz="1400" b="1" dirty="0">
                <a:solidFill>
                  <a:schemeClr val="bg1"/>
                </a:solidFill>
              </a:rPr>
              <a:t>attendance</a:t>
            </a:r>
            <a:endParaRPr lang="en-US" sz="1400" dirty="0"/>
          </a:p>
        </p:txBody>
      </p:sp>
      <p:sp>
        <p:nvSpPr>
          <p:cNvPr id="22" name="Shape 19"/>
          <p:cNvSpPr/>
          <p:nvPr/>
        </p:nvSpPr>
        <p:spPr>
          <a:xfrm>
            <a:off x="3474720" y="4416552"/>
            <a:ext cx="2606040" cy="1435608"/>
          </a:xfrm>
          <a:prstGeom prst="rect">
            <a:avLst/>
          </a:prstGeom>
          <a:solidFill>
            <a:schemeClr val="bg2"/>
          </a:solidFill>
          <a:ln/>
        </p:spPr>
      </p:sp>
      <p:sp>
        <p:nvSpPr>
          <p:cNvPr id="23" name="Text 20"/>
          <p:cNvSpPr txBox="1"/>
          <p:nvPr/>
        </p:nvSpPr>
        <p:spPr>
          <a:xfrm>
            <a:off x="3584448" y="4489704"/>
            <a:ext cx="2386584" cy="1325880"/>
          </a:xfrm>
          <a:prstGeom prst="rect">
            <a:avLst/>
          </a:prstGeom>
          <a:noFill/>
          <a:ln/>
        </p:spPr>
        <p:txBody>
          <a:bodyPr wrap="square" lIns="0" tIns="0" rIns="0" bIns="0" rtlCol="0" anchor="t"/>
          <a:lstStyle/>
          <a:p>
            <a:pPr indent="0" marL="0">
              <a:buNone/>
            </a:pPr>
            <a:r>
              <a:rPr lang="en-US" sz="1250" dirty="0">
                <a:solidFill>
                  <a:schemeClr val="tx1"/>
                </a:solidFill>
              </a:rPr>
              <a:t>emp_id (FK), att_date</a:t>
            </a:r>
            <a:endParaRPr lang="en-US" sz="1250" dirty="0"/>
          </a:p>
          <a:p>
            <a:pPr indent="0" marL="0">
              <a:buNone/>
            </a:pPr>
            <a:r>
              <a:rPr lang="en-US" sz="1250" dirty="0">
                <a:solidFill>
                  <a:schemeClr val="tx1"/>
                </a:solidFill>
              </a:rPr>
              <a:t>status: PRESENT / ABSENT / LEAVE</a:t>
            </a:r>
            <a:endParaRPr lang="en-US" sz="1250" dirty="0"/>
          </a:p>
          <a:p>
            <a:pPr indent="0" marL="0">
              <a:buNone/>
            </a:pPr>
            <a:r>
              <a:rPr lang="en-US" sz="1250" dirty="0">
                <a:solidFill>
                  <a:schemeClr val="tx1"/>
                </a:solidFill>
              </a:rPr>
              <a:t>UNIQUE (emp_id, att_date)</a:t>
            </a:r>
            <a:endParaRPr lang="en-US" sz="1250" dirty="0"/>
          </a:p>
        </p:txBody>
      </p:sp>
      <p:sp>
        <p:nvSpPr>
          <p:cNvPr id="24" name="Shape 21"/>
          <p:cNvSpPr/>
          <p:nvPr/>
        </p:nvSpPr>
        <p:spPr>
          <a:xfrm>
            <a:off x="6309360" y="4069080"/>
            <a:ext cx="2606040" cy="347472"/>
          </a:xfrm>
          <a:prstGeom prst="rect">
            <a:avLst/>
          </a:prstGeom>
          <a:solidFill>
            <a:schemeClr val="tx2"/>
          </a:solidFill>
          <a:ln/>
        </p:spPr>
      </p:sp>
      <p:sp>
        <p:nvSpPr>
          <p:cNvPr id="25" name="Text 22"/>
          <p:cNvSpPr txBox="1"/>
          <p:nvPr/>
        </p:nvSpPr>
        <p:spPr>
          <a:xfrm>
            <a:off x="6419088" y="4114800"/>
            <a:ext cx="2386584" cy="274320"/>
          </a:xfrm>
          <a:prstGeom prst="rect">
            <a:avLst/>
          </a:prstGeom>
          <a:noFill/>
          <a:ln/>
        </p:spPr>
        <p:txBody>
          <a:bodyPr wrap="square" lIns="0" tIns="0" rIns="0" bIns="0" rtlCol="0" anchor="t"/>
          <a:lstStyle/>
          <a:p>
            <a:pPr indent="0" marL="0">
              <a:buNone/>
            </a:pPr>
            <a:r>
              <a:rPr lang="en-US" sz="1400" b="1" dirty="0">
                <a:solidFill>
                  <a:schemeClr val="bg1"/>
                </a:solidFill>
              </a:rPr>
              <a:t>payroll</a:t>
            </a:r>
            <a:endParaRPr lang="en-US" sz="1400" dirty="0"/>
          </a:p>
        </p:txBody>
      </p:sp>
      <p:sp>
        <p:nvSpPr>
          <p:cNvPr id="26" name="Shape 23"/>
          <p:cNvSpPr/>
          <p:nvPr/>
        </p:nvSpPr>
        <p:spPr>
          <a:xfrm>
            <a:off x="6309360" y="4416552"/>
            <a:ext cx="2606040" cy="1435608"/>
          </a:xfrm>
          <a:prstGeom prst="rect">
            <a:avLst/>
          </a:prstGeom>
          <a:solidFill>
            <a:schemeClr val="bg2"/>
          </a:solidFill>
          <a:ln/>
        </p:spPr>
      </p:sp>
      <p:sp>
        <p:nvSpPr>
          <p:cNvPr id="27" name="Text 24"/>
          <p:cNvSpPr txBox="1"/>
          <p:nvPr/>
        </p:nvSpPr>
        <p:spPr>
          <a:xfrm>
            <a:off x="6419088" y="4489704"/>
            <a:ext cx="2386584" cy="1325880"/>
          </a:xfrm>
          <a:prstGeom prst="rect">
            <a:avLst/>
          </a:prstGeom>
          <a:noFill/>
          <a:ln/>
        </p:spPr>
        <p:txBody>
          <a:bodyPr wrap="square" lIns="0" tIns="0" rIns="0" bIns="0" rtlCol="0" anchor="t"/>
          <a:lstStyle/>
          <a:p>
            <a:pPr indent="0" marL="0">
              <a:buNone/>
            </a:pPr>
            <a:r>
              <a:rPr lang="en-US" sz="1250" dirty="0">
                <a:solidFill>
                  <a:schemeClr val="tx1"/>
                </a:solidFill>
              </a:rPr>
              <a:t>emp_id (FK), pay_month</a:t>
            </a:r>
            <a:endParaRPr lang="en-US" sz="1250" dirty="0"/>
          </a:p>
          <a:p>
            <a:pPr indent="0" marL="0">
              <a:buNone/>
            </a:pPr>
            <a:r>
              <a:rPr lang="en-US" sz="1250" dirty="0">
                <a:solidFill>
                  <a:schemeClr val="tx1"/>
                </a:solidFill>
              </a:rPr>
              <a:t>working_days, absent_days</a:t>
            </a:r>
            <a:endParaRPr lang="en-US" sz="1250" dirty="0"/>
          </a:p>
          <a:p>
            <a:pPr indent="0" marL="0">
              <a:buNone/>
            </a:pPr>
            <a:r>
              <a:rPr lang="en-US" sz="1250" dirty="0">
                <a:solidFill>
                  <a:schemeClr val="tx1"/>
                </a:solidFill>
              </a:rPr>
              <a:t>basic, hra, da, gross, pf, tax</a:t>
            </a:r>
            <a:endParaRPr lang="en-US" sz="1250" dirty="0"/>
          </a:p>
          <a:p>
            <a:pPr indent="0" marL="0">
              <a:buNone/>
            </a:pPr>
            <a:r>
              <a:rPr lang="en-US" sz="1250" dirty="0">
                <a:solidFill>
                  <a:schemeClr val="tx1"/>
                </a:solidFill>
              </a:rPr>
              <a:t>net_salary, status, mode</a:t>
            </a:r>
            <a:endParaRPr lang="en-US" sz="1250" dirty="0"/>
          </a:p>
          <a:p>
            <a:pPr indent="0" marL="0">
              <a:buNone/>
            </a:pPr>
            <a:r>
              <a:rPr lang="en-US" sz="1250" dirty="0">
                <a:solidFill>
                  <a:schemeClr val="tx1"/>
                </a:solidFill>
              </a:rPr>
              <a:t>UNIQUE (emp_id, pay_month)</a:t>
            </a:r>
            <a:endParaRPr lang="en-US" sz="1250" dirty="0"/>
          </a:p>
        </p:txBody>
      </p:sp>
      <p:sp>
        <p:nvSpPr>
          <p:cNvPr id="28" name="Shape 25"/>
          <p:cNvSpPr/>
          <p:nvPr/>
        </p:nvSpPr>
        <p:spPr>
          <a:xfrm>
            <a:off x="9144000" y="4069080"/>
            <a:ext cx="2606040" cy="347472"/>
          </a:xfrm>
          <a:prstGeom prst="rect">
            <a:avLst/>
          </a:prstGeom>
          <a:solidFill>
            <a:schemeClr val="tx2"/>
          </a:solidFill>
          <a:ln/>
        </p:spPr>
      </p:sp>
      <p:sp>
        <p:nvSpPr>
          <p:cNvPr id="29" name="Text 26"/>
          <p:cNvSpPr txBox="1"/>
          <p:nvPr/>
        </p:nvSpPr>
        <p:spPr>
          <a:xfrm>
            <a:off x="9253728" y="4114800"/>
            <a:ext cx="2386584" cy="274320"/>
          </a:xfrm>
          <a:prstGeom prst="rect">
            <a:avLst/>
          </a:prstGeom>
          <a:noFill/>
          <a:ln/>
        </p:spPr>
        <p:txBody>
          <a:bodyPr wrap="square" lIns="0" tIns="0" rIns="0" bIns="0" rtlCol="0" anchor="t"/>
          <a:lstStyle/>
          <a:p>
            <a:pPr indent="0" marL="0">
              <a:buNone/>
            </a:pPr>
            <a:r>
              <a:rPr lang="en-US" sz="1400" b="1" dirty="0">
                <a:solidFill>
                  <a:schemeClr val="bg1"/>
                </a:solidFill>
              </a:rPr>
              <a:t>payroll_audit</a:t>
            </a:r>
            <a:endParaRPr lang="en-US" sz="1400" dirty="0"/>
          </a:p>
        </p:txBody>
      </p:sp>
      <p:sp>
        <p:nvSpPr>
          <p:cNvPr id="30" name="Shape 27"/>
          <p:cNvSpPr/>
          <p:nvPr/>
        </p:nvSpPr>
        <p:spPr>
          <a:xfrm>
            <a:off x="9144000" y="4416552"/>
            <a:ext cx="2606040" cy="1435608"/>
          </a:xfrm>
          <a:prstGeom prst="rect">
            <a:avLst/>
          </a:prstGeom>
          <a:solidFill>
            <a:schemeClr val="bg2"/>
          </a:solidFill>
          <a:ln/>
        </p:spPr>
      </p:sp>
      <p:sp>
        <p:nvSpPr>
          <p:cNvPr id="31" name="Text 28"/>
          <p:cNvSpPr txBox="1"/>
          <p:nvPr/>
        </p:nvSpPr>
        <p:spPr>
          <a:xfrm>
            <a:off x="9253728" y="4489704"/>
            <a:ext cx="2386584" cy="1325880"/>
          </a:xfrm>
          <a:prstGeom prst="rect">
            <a:avLst/>
          </a:prstGeom>
          <a:noFill/>
          <a:ln/>
        </p:spPr>
        <p:txBody>
          <a:bodyPr wrap="square" lIns="0" tIns="0" rIns="0" bIns="0" rtlCol="0" anchor="t"/>
          <a:lstStyle/>
          <a:p>
            <a:pPr indent="0" marL="0">
              <a:buNone/>
            </a:pPr>
            <a:r>
              <a:rPr lang="en-US" sz="1250" dirty="0">
                <a:solidFill>
                  <a:schemeClr val="tx1"/>
                </a:solidFill>
              </a:rPr>
              <a:t>payroll_id (FK)</a:t>
            </a:r>
            <a:endParaRPr lang="en-US" sz="1250" dirty="0"/>
          </a:p>
          <a:p>
            <a:pPr indent="0" marL="0">
              <a:buNone/>
            </a:pPr>
            <a:r>
              <a:rPr lang="en-US" sz="1250" dirty="0">
                <a:solidFill>
                  <a:schemeClr val="tx1"/>
                </a:solidFill>
              </a:rPr>
              <a:t>action, action_by</a:t>
            </a:r>
            <a:endParaRPr lang="en-US" sz="1250" dirty="0"/>
          </a:p>
          <a:p>
            <a:pPr indent="0" marL="0">
              <a:buNone/>
            </a:pPr>
            <a:r>
              <a:rPr lang="en-US" sz="1250" dirty="0">
                <a:solidFill>
                  <a:schemeClr val="tx1"/>
                </a:solidFill>
              </a:rPr>
              <a:t>action_time, details</a:t>
            </a:r>
            <a:endParaRPr lang="en-US" sz="1250" dirty="0"/>
          </a:p>
        </p:txBody>
      </p:sp>
      <p:sp>
        <p:nvSpPr>
          <p:cNvPr id="32" name="Shape 29"/>
          <p:cNvSpPr/>
          <p:nvPr/>
        </p:nvSpPr>
        <p:spPr>
          <a:xfrm>
            <a:off x="3246120" y="2468880"/>
            <a:ext cx="228600" cy="0"/>
          </a:xfrm>
          <a:prstGeom prst="line">
            <a:avLst/>
          </a:prstGeom>
          <a:noFill/>
          <a:ln w="19050">
            <a:solidFill>
              <a:schemeClr val="accent5"/>
            </a:solidFill>
            <a:prstDash val="solid"/>
          </a:ln>
        </p:spPr>
      </p:sp>
      <p:sp>
        <p:nvSpPr>
          <p:cNvPr id="33" name="Text 30"/>
          <p:cNvSpPr txBox="1"/>
          <p:nvPr/>
        </p:nvSpPr>
        <p:spPr>
          <a:xfrm>
            <a:off x="3282696" y="2221992"/>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34" name="Text 31"/>
          <p:cNvSpPr txBox="1"/>
          <p:nvPr/>
        </p:nvSpPr>
        <p:spPr>
          <a:xfrm>
            <a:off x="3291840" y="2221992"/>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35" name="Shape 32"/>
          <p:cNvSpPr/>
          <p:nvPr/>
        </p:nvSpPr>
        <p:spPr>
          <a:xfrm>
            <a:off x="6080760" y="2468880"/>
            <a:ext cx="228600" cy="0"/>
          </a:xfrm>
          <a:prstGeom prst="line">
            <a:avLst/>
          </a:prstGeom>
          <a:noFill/>
          <a:ln w="19050">
            <a:solidFill>
              <a:schemeClr val="accent5"/>
            </a:solidFill>
            <a:prstDash val="solid"/>
          </a:ln>
        </p:spPr>
      </p:sp>
      <p:sp>
        <p:nvSpPr>
          <p:cNvPr id="36" name="Text 33"/>
          <p:cNvSpPr txBox="1"/>
          <p:nvPr/>
        </p:nvSpPr>
        <p:spPr>
          <a:xfrm>
            <a:off x="6135624" y="2221992"/>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a:t>
            </a:r>
            <a:endParaRPr lang="en-US" sz="1200" dirty="0"/>
          </a:p>
        </p:txBody>
      </p:sp>
      <p:sp>
        <p:nvSpPr>
          <p:cNvPr id="37" name="Text 34"/>
          <p:cNvSpPr txBox="1"/>
          <p:nvPr/>
        </p:nvSpPr>
        <p:spPr>
          <a:xfrm>
            <a:off x="6126480" y="2221992"/>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38" name="Shape 35"/>
          <p:cNvSpPr/>
          <p:nvPr/>
        </p:nvSpPr>
        <p:spPr>
          <a:xfrm>
            <a:off x="4777740" y="3291840"/>
            <a:ext cx="0" cy="777240"/>
          </a:xfrm>
          <a:prstGeom prst="line">
            <a:avLst/>
          </a:prstGeom>
          <a:noFill/>
          <a:ln w="19050">
            <a:solidFill>
              <a:schemeClr val="accent5"/>
            </a:solidFill>
            <a:prstDash val="solid"/>
          </a:ln>
        </p:spPr>
      </p:sp>
      <p:sp>
        <p:nvSpPr>
          <p:cNvPr id="39" name="Text 36"/>
          <p:cNvSpPr txBox="1"/>
          <p:nvPr/>
        </p:nvSpPr>
        <p:spPr>
          <a:xfrm>
            <a:off x="4832604" y="3310128"/>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40" name="Text 37"/>
          <p:cNvSpPr txBox="1"/>
          <p:nvPr/>
        </p:nvSpPr>
        <p:spPr>
          <a:xfrm>
            <a:off x="4832604" y="3813048"/>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a:t>
            </a:r>
            <a:endParaRPr lang="en-US" sz="1200" dirty="0"/>
          </a:p>
        </p:txBody>
      </p:sp>
      <p:sp>
        <p:nvSpPr>
          <p:cNvPr id="41" name="Shape 38"/>
          <p:cNvSpPr/>
          <p:nvPr/>
        </p:nvSpPr>
        <p:spPr>
          <a:xfrm>
            <a:off x="1943100" y="3584448"/>
            <a:ext cx="2834640" cy="0"/>
          </a:xfrm>
          <a:prstGeom prst="line">
            <a:avLst/>
          </a:prstGeom>
          <a:noFill/>
          <a:ln w="19050">
            <a:solidFill>
              <a:schemeClr val="accent5"/>
            </a:solidFill>
            <a:prstDash val="solid"/>
          </a:ln>
        </p:spPr>
      </p:sp>
      <p:sp>
        <p:nvSpPr>
          <p:cNvPr id="42" name="Shape 39"/>
          <p:cNvSpPr/>
          <p:nvPr/>
        </p:nvSpPr>
        <p:spPr>
          <a:xfrm>
            <a:off x="1943100" y="3584448"/>
            <a:ext cx="0" cy="484632"/>
          </a:xfrm>
          <a:prstGeom prst="line">
            <a:avLst/>
          </a:prstGeom>
          <a:noFill/>
          <a:ln w="19050">
            <a:solidFill>
              <a:schemeClr val="accent5"/>
            </a:solidFill>
            <a:prstDash val="solid"/>
          </a:ln>
        </p:spPr>
      </p:sp>
      <p:sp>
        <p:nvSpPr>
          <p:cNvPr id="43" name="Text 40"/>
          <p:cNvSpPr txBox="1"/>
          <p:nvPr/>
        </p:nvSpPr>
        <p:spPr>
          <a:xfrm>
            <a:off x="1997964" y="3813048"/>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44" name="Shape 41"/>
          <p:cNvSpPr/>
          <p:nvPr/>
        </p:nvSpPr>
        <p:spPr>
          <a:xfrm>
            <a:off x="4777740" y="3584448"/>
            <a:ext cx="2834640" cy="0"/>
          </a:xfrm>
          <a:prstGeom prst="line">
            <a:avLst/>
          </a:prstGeom>
          <a:noFill/>
          <a:ln w="19050">
            <a:solidFill>
              <a:schemeClr val="accent5"/>
            </a:solidFill>
            <a:prstDash val="solid"/>
          </a:ln>
        </p:spPr>
      </p:sp>
      <p:sp>
        <p:nvSpPr>
          <p:cNvPr id="45" name="Shape 42"/>
          <p:cNvSpPr/>
          <p:nvPr/>
        </p:nvSpPr>
        <p:spPr>
          <a:xfrm>
            <a:off x="7612380" y="3584448"/>
            <a:ext cx="0" cy="484632"/>
          </a:xfrm>
          <a:prstGeom prst="line">
            <a:avLst/>
          </a:prstGeom>
          <a:noFill/>
          <a:ln w="19050">
            <a:solidFill>
              <a:schemeClr val="accent5"/>
            </a:solidFill>
            <a:prstDash val="solid"/>
          </a:ln>
        </p:spPr>
      </p:sp>
      <p:sp>
        <p:nvSpPr>
          <p:cNvPr id="46" name="Text 43"/>
          <p:cNvSpPr txBox="1"/>
          <p:nvPr/>
        </p:nvSpPr>
        <p:spPr>
          <a:xfrm>
            <a:off x="7667244" y="3813048"/>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a:t>
            </a:r>
            <a:endParaRPr lang="en-US" sz="1200" dirty="0"/>
          </a:p>
        </p:txBody>
      </p:sp>
      <p:sp>
        <p:nvSpPr>
          <p:cNvPr id="47" name="Shape 44"/>
          <p:cNvSpPr/>
          <p:nvPr/>
        </p:nvSpPr>
        <p:spPr>
          <a:xfrm>
            <a:off x="8915400" y="4937760"/>
            <a:ext cx="228600" cy="0"/>
          </a:xfrm>
          <a:prstGeom prst="line">
            <a:avLst/>
          </a:prstGeom>
          <a:noFill/>
          <a:ln w="19050">
            <a:solidFill>
              <a:schemeClr val="accent5"/>
            </a:solidFill>
            <a:prstDash val="solid"/>
          </a:ln>
        </p:spPr>
      </p:sp>
      <p:sp>
        <p:nvSpPr>
          <p:cNvPr id="48" name="Text 45"/>
          <p:cNvSpPr txBox="1"/>
          <p:nvPr/>
        </p:nvSpPr>
        <p:spPr>
          <a:xfrm>
            <a:off x="8951976" y="4690872"/>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49" name="Text 46"/>
          <p:cNvSpPr txBox="1"/>
          <p:nvPr/>
        </p:nvSpPr>
        <p:spPr>
          <a:xfrm>
            <a:off x="8961120" y="4690872"/>
            <a:ext cx="365760" cy="228600"/>
          </a:xfrm>
          <a:prstGeom prst="rect">
            <a:avLst/>
          </a:prstGeom>
          <a:noFill/>
          <a:ln/>
        </p:spPr>
        <p:txBody>
          <a:bodyPr wrap="square" lIns="0" tIns="0" rIns="0" bIns="0" rtlCol="0" anchor="t"/>
          <a:lstStyle/>
          <a:p>
            <a:pPr indent="0" marL="0">
              <a:buNone/>
            </a:pPr>
            <a:r>
              <a:rPr lang="en-US" sz="1200" b="1" dirty="0">
                <a:solidFill>
                  <a:schemeClr val="accent2"/>
                </a:solidFill>
              </a:rPr>
              <a:t>*</a:t>
            </a:r>
            <a:endParaRPr lang="en-US" sz="1200" dirty="0"/>
          </a:p>
        </p:txBody>
      </p:sp>
      <p:sp>
        <p:nvSpPr>
          <p:cNvPr id="50" name="Text 47"/>
          <p:cNvSpPr txBox="1"/>
          <p:nvPr/>
        </p:nvSpPr>
        <p:spPr>
          <a:xfrm>
            <a:off x="9144000" y="1691640"/>
            <a:ext cx="2606040" cy="1463040"/>
          </a:xfrm>
          <a:prstGeom prst="rect">
            <a:avLst/>
          </a:prstGeom>
          <a:noFill/>
          <a:ln/>
        </p:spPr>
        <p:txBody>
          <a:bodyPr wrap="square" lIns="0" tIns="0" rIns="0" bIns="0" rtlCol="0" anchor="t"/>
          <a:lstStyle/>
          <a:p>
            <a:pPr indent="0" marL="0">
              <a:buNone/>
            </a:pPr>
            <a:r>
              <a:rPr lang="en-US" sz="1300" dirty="0">
                <a:solidFill>
                  <a:schemeClr val="accent5"/>
                </a:solidFill>
              </a:rPr>
              <a:t>1 = one row, * = many rows. Each of employee's children (salary structure, attendance, payroll) references it by emp_id.</a:t>
            </a:r>
            <a:endParaRPr lang="en-US" sz="13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HR runs the whole payroll cycle from one dashboard</a:t>
            </a:r>
            <a:endParaRPr lang="en-US" sz="3000" dirty="0"/>
          </a:p>
        </p:txBody>
      </p:sp>
      <p:pic>
        <p:nvPicPr>
          <p:cNvPr id="4" name="Image 0" descr="Admin dashboard on the Run Payroll tab listing five payroll records for the demo month">    </p:cNvPr>
          <p:cNvPicPr>
            <a:picLocks noChangeAspect="1"/>
          </p:cNvPicPr>
          <p:nvPr/>
        </p:nvPicPr>
        <p:blipFill>
          <a:blip r:embed="rId1"/>
          <a:stretch>
            <a:fillRect/>
          </a:stretch>
        </p:blipFill>
        <p:spPr>
          <a:xfrm>
            <a:off x="640080" y="1508760"/>
            <a:ext cx="10911535" cy="3097766"/>
          </a:xfrm>
          <a:prstGeom prst="rect">
            <a:avLst/>
          </a:prstGeom>
        </p:spPr>
      </p:pic>
      <p:sp>
        <p:nvSpPr>
          <p:cNvPr id="5" name="Text 1"/>
          <p:cNvSpPr txBox="1"/>
          <p:nvPr/>
        </p:nvSpPr>
        <p:spPr>
          <a:xfrm>
            <a:off x="640080" y="4661390"/>
            <a:ext cx="5486400" cy="256032"/>
          </a:xfrm>
          <a:prstGeom prst="rect">
            <a:avLst/>
          </a:prstGeom>
          <a:noFill/>
          <a:ln/>
        </p:spPr>
        <p:txBody>
          <a:bodyPr wrap="square" lIns="0" tIns="0" rIns="0" bIns="0" rtlCol="0" anchor="t"/>
          <a:lstStyle/>
          <a:p>
            <a:pPr indent="0" marL="0">
              <a:buNone/>
            </a:pPr>
            <a:r>
              <a:rPr lang="en-US" sz="1200" dirty="0">
                <a:solidFill>
                  <a:schemeClr val="accent5"/>
                </a:solidFill>
              </a:rPr>
              <a:t>Admin dashboard, Run Payroll tab (demo data)</a:t>
            </a:r>
            <a:endParaRPr lang="en-US" sz="1200" dirty="0"/>
          </a:p>
        </p:txBody>
      </p:sp>
      <p:sp>
        <p:nvSpPr>
          <p:cNvPr id="6" name="Text 2"/>
          <p:cNvSpPr txBox="1"/>
          <p:nvPr/>
        </p:nvSpPr>
        <p:spPr>
          <a:xfrm>
            <a:off x="640080" y="5063726"/>
            <a:ext cx="5303520" cy="1737360"/>
          </a:xfrm>
          <a:prstGeom prst="rect">
            <a:avLst/>
          </a:prstGeom>
          <a:noFill/>
          <a:ln/>
        </p:spPr>
        <p:txBody>
          <a:bodyPr wrap="square" lIns="0" tIns="0" rIns="0" bIns="0" rtlCol="0" anchor="t"/>
          <a:lstStyle/>
          <a:p>
            <a:pPr indent="0" marL="0">
              <a:buNone/>
            </a:pPr>
            <a:r>
              <a:rPr lang="en-US" sz="1600" b="1" dirty="0">
                <a:solidFill>
                  <a:schemeClr val="tx2"/>
                </a:solidFill>
              </a:rPr>
              <a:t>Employees  </a:t>
            </a:r>
            <a:pPr indent="0" marL="0">
              <a:spcAft>
                <a:spcPts val="700"/>
              </a:spcAft>
              <a:buNone/>
            </a:pPr>
            <a:r>
              <a:rPr lang="en-US" sz="1500" dirty="0">
                <a:solidFill>
                  <a:schemeClr val="tx1"/>
                </a:solidFill>
              </a:rPr>
              <a:t>add, edit, search, deactivate, reset password</a:t>
            </a:r>
            <a:endParaRPr lang="en-US" sz="1600" dirty="0"/>
          </a:p>
          <a:p>
            <a:pPr indent="0" marL="0">
              <a:buNone/>
            </a:pPr>
            <a:r>
              <a:rPr lang="en-US" sz="1600" b="1" dirty="0">
                <a:solidFill>
                  <a:schemeClr val="tx2"/>
                </a:solidFill>
              </a:rPr>
              <a:t>Departments  </a:t>
            </a:r>
            <a:pPr indent="0" marL="0">
              <a:spcAft>
                <a:spcPts val="700"/>
              </a:spcAft>
              <a:buNone/>
            </a:pPr>
            <a:r>
              <a:rPr lang="en-US" sz="1500" dirty="0">
                <a:solidFill>
                  <a:schemeClr val="tx1"/>
                </a:solidFill>
              </a:rPr>
              <a:t>add, rename; delete blocked while staffed</a:t>
            </a:r>
            <a:endParaRPr lang="en-US" sz="1600" dirty="0"/>
          </a:p>
          <a:p>
            <a:pPr indent="0" marL="0">
              <a:buNone/>
            </a:pPr>
            <a:r>
              <a:rPr lang="en-US" sz="1600" b="1" dirty="0">
                <a:solidFill>
                  <a:schemeClr val="tx2"/>
                </a:solidFill>
              </a:rPr>
              <a:t>Salary structure  </a:t>
            </a:r>
            <a:pPr indent="0" marL="0">
              <a:spcAft>
                <a:spcPts val="700"/>
              </a:spcAft>
              <a:buNone/>
            </a:pPr>
            <a:r>
              <a:rPr lang="en-US" sz="1500" dirty="0">
                <a:solidFill>
                  <a:schemeClr val="tx1"/>
                </a:solidFill>
              </a:rPr>
              <a:t>HRA, DA, PF and tax % per employee</a:t>
            </a:r>
            <a:endParaRPr lang="en-US" sz="1600" dirty="0"/>
          </a:p>
          <a:p>
            <a:pPr indent="0" marL="0">
              <a:buNone/>
            </a:pPr>
            <a:r>
              <a:rPr lang="en-US" sz="1600" b="1" dirty="0">
                <a:solidFill>
                  <a:schemeClr val="tx2"/>
                </a:solidFill>
              </a:rPr>
              <a:t>Attendance  </a:t>
            </a:r>
            <a:pPr indent="0" marL="0">
              <a:spcAft>
                <a:spcPts val="700"/>
              </a:spcAft>
              <a:buNone/>
            </a:pPr>
            <a:r>
              <a:rPr lang="en-US" sz="1500" dirty="0">
                <a:solidFill>
                  <a:schemeClr val="tx1"/>
                </a:solidFill>
              </a:rPr>
              <a:t>mark present, absent or leave per day</a:t>
            </a:r>
            <a:endParaRPr lang="en-US" sz="1600" dirty="0"/>
          </a:p>
        </p:txBody>
      </p:sp>
      <p:sp>
        <p:nvSpPr>
          <p:cNvPr id="7" name="Text 3"/>
          <p:cNvSpPr txBox="1"/>
          <p:nvPr/>
        </p:nvSpPr>
        <p:spPr>
          <a:xfrm>
            <a:off x="6217920" y="5063726"/>
            <a:ext cx="5303520" cy="1737360"/>
          </a:xfrm>
          <a:prstGeom prst="rect">
            <a:avLst/>
          </a:prstGeom>
          <a:noFill/>
          <a:ln/>
        </p:spPr>
        <p:txBody>
          <a:bodyPr wrap="square" lIns="0" tIns="0" rIns="0" bIns="0" rtlCol="0" anchor="t"/>
          <a:lstStyle/>
          <a:p>
            <a:pPr indent="0" marL="0">
              <a:buNone/>
            </a:pPr>
            <a:r>
              <a:rPr lang="en-US" sz="1600" b="1" dirty="0">
                <a:solidFill>
                  <a:schemeClr val="tx2"/>
                </a:solidFill>
              </a:rPr>
              <a:t>Run Payroll  </a:t>
            </a:r>
            <a:pPr indent="0" marL="0">
              <a:spcAft>
                <a:spcPts val="700"/>
              </a:spcAft>
              <a:buNone/>
            </a:pPr>
            <a:r>
              <a:rPr lang="en-US" sz="1500" dirty="0">
                <a:solidFill>
                  <a:schemeClr val="tx1"/>
                </a:solidFill>
              </a:rPr>
              <a:t>generate, verify, pay, cancel, reprocess</a:t>
            </a:r>
            <a:endParaRPr lang="en-US" sz="1600" dirty="0"/>
          </a:p>
          <a:p>
            <a:pPr indent="0" marL="0">
              <a:buNone/>
            </a:pPr>
            <a:r>
              <a:rPr lang="en-US" sz="1600" b="1" dirty="0">
                <a:solidFill>
                  <a:schemeClr val="tx2"/>
                </a:solidFill>
              </a:rPr>
              <a:t>Reports  </a:t>
            </a:r>
            <a:pPr indent="0" marL="0">
              <a:spcAft>
                <a:spcPts val="700"/>
              </a:spcAft>
              <a:buNone/>
            </a:pPr>
            <a:r>
              <a:rPr lang="en-US" sz="1500" dirty="0">
                <a:solidFill>
                  <a:schemeClr val="tx1"/>
                </a:solidFill>
              </a:rPr>
              <a:t>payroll, attendance, employee; CSV export</a:t>
            </a:r>
            <a:endParaRPr lang="en-US" sz="1600" dirty="0"/>
          </a:p>
          <a:p>
            <a:pPr indent="0" marL="0">
              <a:buNone/>
            </a:pPr>
            <a:r>
              <a:rPr lang="en-US" sz="1600" b="1" dirty="0">
                <a:solidFill>
                  <a:schemeClr val="tx2"/>
                </a:solidFill>
              </a:rPr>
              <a:t>Audit log  </a:t>
            </a:r>
            <a:pPr indent="0" marL="0">
              <a:spcAft>
                <a:spcPts val="700"/>
              </a:spcAft>
              <a:buNone/>
            </a:pPr>
            <a:r>
              <a:rPr lang="en-US" sz="1500" dirty="0">
                <a:solidFill>
                  <a:schemeClr val="tx1"/>
                </a:solidFill>
              </a:rPr>
              <a:t>who changed which record, and when</a:t>
            </a:r>
            <a:endParaRPr lang="en-US" sz="1600" dirty="0"/>
          </a:p>
          <a:p>
            <a:pPr indent="0" marL="0">
              <a:buNone/>
            </a:pPr>
            <a:r>
              <a:rPr lang="en-US" sz="1600" b="1" dirty="0">
                <a:solidFill>
                  <a:schemeClr val="tx2"/>
                </a:solidFill>
              </a:rPr>
              <a:t>Overview  </a:t>
            </a:r>
            <a:pPr indent="0" marL="0">
              <a:spcAft>
                <a:spcPts val="700"/>
              </a:spcAft>
              <a:buNone/>
            </a:pPr>
            <a:r>
              <a:rPr lang="en-US" sz="1500" dirty="0">
                <a:solidFill>
                  <a:schemeClr val="tx1"/>
                </a:solidFill>
              </a:rPr>
              <a:t>headcount and last month's totals</a:t>
            </a:r>
            <a:endParaRPr lang="en-US" sz="16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Employees see only their own data, and payslips only after HR verifies the month</a:t>
            </a:r>
            <a:endParaRPr lang="en-US" sz="3000" dirty="0"/>
          </a:p>
        </p:txBody>
      </p:sp>
      <p:sp>
        <p:nvSpPr>
          <p:cNvPr id="4" name="Text 1"/>
          <p:cNvSpPr txBox="1"/>
          <p:nvPr/>
        </p:nvSpPr>
        <p:spPr>
          <a:xfrm>
            <a:off x="640080" y="1783080"/>
            <a:ext cx="4023360" cy="4206240"/>
          </a:xfrm>
          <a:prstGeom prst="rect">
            <a:avLst/>
          </a:prstGeom>
          <a:noFill/>
          <a:ln/>
        </p:spPr>
        <p:txBody>
          <a:bodyPr wrap="square" lIns="0" tIns="0" rIns="0" bIns="0" rtlCol="0" anchor="t"/>
          <a:lstStyle/>
          <a:p>
            <a:pPr indent="0" marL="0">
              <a:buNone/>
            </a:pPr>
            <a:r>
              <a:rPr lang="en-US" sz="1800" b="1" dirty="0">
                <a:solidFill>
                  <a:schemeClr val="tx2"/>
                </a:solidFill>
              </a:rPr>
              <a:t>Profile</a:t>
            </a:r>
            <a:endParaRPr lang="en-US" sz="1800" dirty="0"/>
          </a:p>
          <a:p>
            <a:pPr indent="0" marL="0">
              <a:spcAft>
                <a:spcPts val="1600"/>
              </a:spcAft>
              <a:buNone/>
            </a:pPr>
            <a:r>
              <a:rPr lang="en-US" sz="1600" dirty="0">
                <a:solidFill>
                  <a:schemeClr val="tx1"/>
                </a:solidFill>
              </a:rPr>
              <a:t>Edit name and email, change password</a:t>
            </a:r>
            <a:endParaRPr lang="en-US" sz="1800" dirty="0"/>
          </a:p>
          <a:p>
            <a:pPr indent="0" marL="0">
              <a:buNone/>
            </a:pPr>
            <a:r>
              <a:rPr lang="en-US" sz="1800" b="1" dirty="0">
                <a:solidFill>
                  <a:schemeClr val="tx2"/>
                </a:solidFill>
              </a:rPr>
              <a:t>Attendance</a:t>
            </a:r>
            <a:endParaRPr lang="en-US" sz="1800" dirty="0"/>
          </a:p>
          <a:p>
            <a:pPr indent="0" marL="0">
              <a:spcAft>
                <a:spcPts val="1600"/>
              </a:spcAft>
              <a:buNone/>
            </a:pPr>
            <a:r>
              <a:rPr lang="en-US" sz="1600" dirty="0">
                <a:solidFill>
                  <a:schemeClr val="tx1"/>
                </a:solidFill>
              </a:rPr>
              <a:t>Pick a month; see marked days with absent and leave totals</a:t>
            </a:r>
            <a:endParaRPr lang="en-US" sz="1800" dirty="0"/>
          </a:p>
          <a:p>
            <a:pPr indent="0" marL="0">
              <a:buNone/>
            </a:pPr>
            <a:r>
              <a:rPr lang="en-US" sz="1800" b="1" dirty="0">
                <a:solidFill>
                  <a:schemeClr val="tx2"/>
                </a:solidFill>
              </a:rPr>
              <a:t>Payslips</a:t>
            </a:r>
            <a:endParaRPr lang="en-US" sz="1800" dirty="0"/>
          </a:p>
          <a:p>
            <a:pPr indent="0" marL="0">
              <a:spcAft>
                <a:spcPts val="1600"/>
              </a:spcAft>
              <a:buNone/>
            </a:pPr>
            <a:r>
              <a:rPr lang="en-US" sz="1600" dirty="0">
                <a:solidFill>
                  <a:schemeClr val="tx1"/>
                </a:solidFill>
              </a:rPr>
              <a:t>Lists verified and paid months only; full breakdown from basic to net</a:t>
            </a:r>
            <a:endParaRPr lang="en-US" sz="1800" dirty="0"/>
          </a:p>
          <a:p>
            <a:pPr indent="0" marL="0">
              <a:buNone/>
            </a:pPr>
            <a:r>
              <a:rPr lang="en-US" sz="1800" b="1" dirty="0">
                <a:solidFill>
                  <a:schemeClr val="tx2"/>
                </a:solidFill>
              </a:rPr>
              <a:t>Download</a:t>
            </a:r>
            <a:endParaRPr lang="en-US" sz="1800" dirty="0"/>
          </a:p>
          <a:p>
            <a:pPr indent="0" marL="0">
              <a:spcAft>
                <a:spcPts val="1600"/>
              </a:spcAft>
              <a:buNone/>
            </a:pPr>
            <a:r>
              <a:rPr lang="en-US" sz="1600" dirty="0">
                <a:solidFill>
                  <a:schemeClr val="tx1"/>
                </a:solidFill>
              </a:rPr>
              <a:t>Save any payslip as a PDF</a:t>
            </a:r>
            <a:endParaRPr lang="en-US" sz="1800" dirty="0"/>
          </a:p>
        </p:txBody>
      </p:sp>
      <p:pic>
        <p:nvPicPr>
          <p:cNvPr id="5" name="Image 0" descr="Employee portal Payslips tab showing a payslip with basic, HRA, DA, gross, PF, tax, deductions and net salary">    </p:cNvPr>
          <p:cNvPicPr>
            <a:picLocks noChangeAspect="1"/>
          </p:cNvPicPr>
          <p:nvPr/>
        </p:nvPicPr>
        <p:blipFill>
          <a:blip r:embed="rId1"/>
          <a:stretch>
            <a:fillRect/>
          </a:stretch>
        </p:blipFill>
        <p:spPr>
          <a:xfrm>
            <a:off x="5150815" y="1645920"/>
            <a:ext cx="6400800" cy="4267200"/>
          </a:xfrm>
          <a:prstGeom prst="rect">
            <a:avLst/>
          </a:prstGeom>
        </p:spPr>
      </p:pic>
      <p:sp>
        <p:nvSpPr>
          <p:cNvPr id="6" name="Text 2"/>
          <p:cNvSpPr txBox="1"/>
          <p:nvPr/>
        </p:nvSpPr>
        <p:spPr>
          <a:xfrm>
            <a:off x="5150815" y="5967984"/>
            <a:ext cx="6400800" cy="256032"/>
          </a:xfrm>
          <a:prstGeom prst="rect">
            <a:avLst/>
          </a:prstGeom>
          <a:noFill/>
          <a:ln/>
        </p:spPr>
        <p:txBody>
          <a:bodyPr wrap="square" lIns="0" tIns="0" rIns="0" bIns="0" rtlCol="0" anchor="t"/>
          <a:lstStyle/>
          <a:p>
            <a:pPr indent="0" marL="0">
              <a:buNone/>
            </a:pPr>
            <a:r>
              <a:rPr lang="en-US" sz="1200" dirty="0">
                <a:solidFill>
                  <a:schemeClr val="accent5"/>
                </a:solidFill>
              </a:rPr>
              <a:t>Employee portal, My Payslips tab (demo data)</a:t>
            </a:r>
            <a:endParaRPr lang="en-US" sz="12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A payroll run is a single transaction: every employee is processed, or none</a:t>
            </a:r>
            <a:endParaRPr lang="en-US" sz="3000" dirty="0"/>
          </a:p>
        </p:txBody>
      </p:sp>
      <p:sp>
        <p:nvSpPr>
          <p:cNvPr id="4" name="Shape 1"/>
          <p:cNvSpPr/>
          <p:nvPr/>
        </p:nvSpPr>
        <p:spPr>
          <a:xfrm>
            <a:off x="640080" y="1645920"/>
            <a:ext cx="1627632" cy="2240280"/>
          </a:xfrm>
          <a:prstGeom prst="rect">
            <a:avLst/>
          </a:prstGeom>
          <a:solidFill>
            <a:schemeClr val="tx2"/>
          </a:solidFill>
          <a:ln/>
        </p:spPr>
      </p:sp>
      <p:sp>
        <p:nvSpPr>
          <p:cNvPr id="5" name="Text 2"/>
          <p:cNvSpPr txBox="1"/>
          <p:nvPr/>
        </p:nvSpPr>
        <p:spPr>
          <a:xfrm>
            <a:off x="768096" y="1783080"/>
            <a:ext cx="1371600" cy="320040"/>
          </a:xfrm>
          <a:prstGeom prst="rect">
            <a:avLst/>
          </a:prstGeom>
          <a:noFill/>
          <a:ln/>
        </p:spPr>
        <p:txBody>
          <a:bodyPr wrap="square" lIns="0" tIns="0" rIns="0" bIns="0" rtlCol="0" anchor="t"/>
          <a:lstStyle/>
          <a:p>
            <a:pPr indent="0" marL="0">
              <a:buNone/>
            </a:pPr>
            <a:r>
              <a:rPr lang="en-US" sz="1700" b="1" dirty="0">
                <a:solidFill>
                  <a:schemeClr val="bg1"/>
                </a:solidFill>
              </a:rPr>
              <a:t>Start</a:t>
            </a:r>
            <a:endParaRPr lang="en-US" sz="1700" dirty="0"/>
          </a:p>
        </p:txBody>
      </p:sp>
      <p:sp>
        <p:nvSpPr>
          <p:cNvPr id="6" name="Text 3"/>
          <p:cNvSpPr txBox="1"/>
          <p:nvPr/>
        </p:nvSpPr>
        <p:spPr>
          <a:xfrm>
            <a:off x="768096" y="2194560"/>
            <a:ext cx="1371600" cy="1600200"/>
          </a:xfrm>
          <a:prstGeom prst="rect">
            <a:avLst/>
          </a:prstGeom>
          <a:noFill/>
          <a:ln/>
        </p:spPr>
        <p:txBody>
          <a:bodyPr wrap="square" lIns="0" tIns="0" rIns="0" bIns="0" rtlCol="0" anchor="t"/>
          <a:lstStyle/>
          <a:p>
            <a:pPr indent="0" marL="0">
              <a:buNone/>
            </a:pPr>
            <a:r>
              <a:rPr lang="en-US" sz="1400" dirty="0">
                <a:solidFill>
                  <a:schemeClr val="bg1"/>
                </a:solidFill>
              </a:rPr>
              <a:t>HR clicks Run Payroll, or the scheduler fires on the 1st</a:t>
            </a:r>
            <a:endParaRPr lang="en-US" sz="1400" dirty="0"/>
          </a:p>
        </p:txBody>
      </p:sp>
      <p:sp>
        <p:nvSpPr>
          <p:cNvPr id="7" name="Shape 4"/>
          <p:cNvSpPr/>
          <p:nvPr/>
        </p:nvSpPr>
        <p:spPr>
          <a:xfrm>
            <a:off x="2295144" y="2766060"/>
            <a:ext cx="174285" cy="0"/>
          </a:xfrm>
          <a:prstGeom prst="line">
            <a:avLst/>
          </a:prstGeom>
          <a:noFill/>
          <a:ln w="22225">
            <a:solidFill>
              <a:schemeClr val="accent5"/>
            </a:solidFill>
            <a:prstDash val="solid"/>
            <a:tailEnd type="triangle"/>
          </a:ln>
        </p:spPr>
      </p:sp>
      <p:sp>
        <p:nvSpPr>
          <p:cNvPr id="8" name="Shape 5"/>
          <p:cNvSpPr/>
          <p:nvPr/>
        </p:nvSpPr>
        <p:spPr>
          <a:xfrm>
            <a:off x="2496861" y="1645920"/>
            <a:ext cx="1627632" cy="2240280"/>
          </a:xfrm>
          <a:prstGeom prst="rect">
            <a:avLst/>
          </a:prstGeom>
          <a:solidFill>
            <a:schemeClr val="tx2"/>
          </a:solidFill>
          <a:ln/>
        </p:spPr>
      </p:sp>
      <p:sp>
        <p:nvSpPr>
          <p:cNvPr id="9" name="Text 6"/>
          <p:cNvSpPr txBox="1"/>
          <p:nvPr/>
        </p:nvSpPr>
        <p:spPr>
          <a:xfrm>
            <a:off x="2624877" y="1783080"/>
            <a:ext cx="1371600" cy="320040"/>
          </a:xfrm>
          <a:prstGeom prst="rect">
            <a:avLst/>
          </a:prstGeom>
          <a:noFill/>
          <a:ln/>
        </p:spPr>
        <p:txBody>
          <a:bodyPr wrap="square" lIns="0" tIns="0" rIns="0" bIns="0" rtlCol="0" anchor="t"/>
          <a:lstStyle/>
          <a:p>
            <a:pPr indent="0" marL="0">
              <a:buNone/>
            </a:pPr>
            <a:r>
              <a:rPr lang="en-US" sz="1700" b="1" dirty="0">
                <a:solidFill>
                  <a:schemeClr val="bg1"/>
                </a:solidFill>
              </a:rPr>
              <a:t>Check</a:t>
            </a:r>
            <a:endParaRPr lang="en-US" sz="1700" dirty="0"/>
          </a:p>
        </p:txBody>
      </p:sp>
      <p:sp>
        <p:nvSpPr>
          <p:cNvPr id="10" name="Text 7"/>
          <p:cNvSpPr txBox="1"/>
          <p:nvPr/>
        </p:nvSpPr>
        <p:spPr>
          <a:xfrm>
            <a:off x="2624877" y="2194560"/>
            <a:ext cx="1371600" cy="1600200"/>
          </a:xfrm>
          <a:prstGeom prst="rect">
            <a:avLst/>
          </a:prstGeom>
          <a:noFill/>
          <a:ln/>
        </p:spPr>
        <p:txBody>
          <a:bodyPr wrap="square" lIns="0" tIns="0" rIns="0" bIns="0" rtlCol="0" anchor="t"/>
          <a:lstStyle/>
          <a:p>
            <a:pPr indent="0" marL="0">
              <a:buNone/>
            </a:pPr>
            <a:r>
              <a:rPr lang="en-US" sz="1400" dirty="0">
                <a:solidFill>
                  <a:schemeClr val="bg1"/>
                </a:solidFill>
              </a:rPr>
              <a:t>Month not in the future; open the transaction</a:t>
            </a:r>
            <a:endParaRPr lang="en-US" sz="1400" dirty="0"/>
          </a:p>
        </p:txBody>
      </p:sp>
      <p:sp>
        <p:nvSpPr>
          <p:cNvPr id="11" name="Shape 8"/>
          <p:cNvSpPr/>
          <p:nvPr/>
        </p:nvSpPr>
        <p:spPr>
          <a:xfrm>
            <a:off x="4151925" y="2766060"/>
            <a:ext cx="174285" cy="0"/>
          </a:xfrm>
          <a:prstGeom prst="line">
            <a:avLst/>
          </a:prstGeom>
          <a:noFill/>
          <a:ln w="22225">
            <a:solidFill>
              <a:schemeClr val="accent5"/>
            </a:solidFill>
            <a:prstDash val="solid"/>
            <a:tailEnd type="triangle"/>
          </a:ln>
        </p:spPr>
      </p:sp>
      <p:sp>
        <p:nvSpPr>
          <p:cNvPr id="12" name="Shape 9"/>
          <p:cNvSpPr/>
          <p:nvPr/>
        </p:nvSpPr>
        <p:spPr>
          <a:xfrm>
            <a:off x="4353641" y="1645920"/>
            <a:ext cx="1627632" cy="2240280"/>
          </a:xfrm>
          <a:prstGeom prst="rect">
            <a:avLst/>
          </a:prstGeom>
          <a:solidFill>
            <a:schemeClr val="tx2"/>
          </a:solidFill>
          <a:ln/>
        </p:spPr>
      </p:sp>
      <p:sp>
        <p:nvSpPr>
          <p:cNvPr id="13" name="Text 10"/>
          <p:cNvSpPr txBox="1"/>
          <p:nvPr/>
        </p:nvSpPr>
        <p:spPr>
          <a:xfrm>
            <a:off x="4481657" y="1783080"/>
            <a:ext cx="1371600" cy="320040"/>
          </a:xfrm>
          <a:prstGeom prst="rect">
            <a:avLst/>
          </a:prstGeom>
          <a:noFill/>
          <a:ln/>
        </p:spPr>
        <p:txBody>
          <a:bodyPr wrap="square" lIns="0" tIns="0" rIns="0" bIns="0" rtlCol="0" anchor="t"/>
          <a:lstStyle/>
          <a:p>
            <a:pPr indent="0" marL="0">
              <a:buNone/>
            </a:pPr>
            <a:r>
              <a:rPr lang="en-US" sz="1700" b="1" dirty="0">
                <a:solidFill>
                  <a:schemeClr val="bg1"/>
                </a:solidFill>
              </a:rPr>
              <a:t>Load</a:t>
            </a:r>
            <a:endParaRPr lang="en-US" sz="1700" dirty="0"/>
          </a:p>
        </p:txBody>
      </p:sp>
      <p:sp>
        <p:nvSpPr>
          <p:cNvPr id="14" name="Text 11"/>
          <p:cNvSpPr txBox="1"/>
          <p:nvPr/>
        </p:nvSpPr>
        <p:spPr>
          <a:xfrm>
            <a:off x="4481657" y="2194560"/>
            <a:ext cx="1371600" cy="1600200"/>
          </a:xfrm>
          <a:prstGeom prst="rect">
            <a:avLst/>
          </a:prstGeom>
          <a:noFill/>
          <a:ln/>
        </p:spPr>
        <p:txBody>
          <a:bodyPr wrap="square" lIns="0" tIns="0" rIns="0" bIns="0" rtlCol="0" anchor="t"/>
          <a:lstStyle/>
          <a:p>
            <a:pPr indent="0" marL="0">
              <a:buNone/>
            </a:pPr>
            <a:r>
              <a:rPr lang="en-US" sz="1400" dirty="0">
                <a:solidFill>
                  <a:schemeClr val="bg1"/>
                </a:solidFill>
              </a:rPr>
              <a:t>Fetch all active employees</a:t>
            </a:r>
            <a:endParaRPr lang="en-US" sz="1400" dirty="0"/>
          </a:p>
        </p:txBody>
      </p:sp>
      <p:sp>
        <p:nvSpPr>
          <p:cNvPr id="15" name="Shape 12"/>
          <p:cNvSpPr/>
          <p:nvPr/>
        </p:nvSpPr>
        <p:spPr>
          <a:xfrm>
            <a:off x="6008705" y="2766060"/>
            <a:ext cx="174285" cy="0"/>
          </a:xfrm>
          <a:prstGeom prst="line">
            <a:avLst/>
          </a:prstGeom>
          <a:noFill/>
          <a:ln w="22225">
            <a:solidFill>
              <a:schemeClr val="accent5"/>
            </a:solidFill>
            <a:prstDash val="solid"/>
            <a:tailEnd type="triangle"/>
          </a:ln>
        </p:spPr>
      </p:sp>
      <p:sp>
        <p:nvSpPr>
          <p:cNvPr id="16" name="Shape 13"/>
          <p:cNvSpPr/>
          <p:nvPr/>
        </p:nvSpPr>
        <p:spPr>
          <a:xfrm>
            <a:off x="6210422" y="1645920"/>
            <a:ext cx="1627632" cy="2240280"/>
          </a:xfrm>
          <a:prstGeom prst="rect">
            <a:avLst/>
          </a:prstGeom>
          <a:solidFill>
            <a:schemeClr val="bg2"/>
          </a:solidFill>
          <a:ln/>
        </p:spPr>
      </p:sp>
      <p:sp>
        <p:nvSpPr>
          <p:cNvPr id="17" name="Text 14"/>
          <p:cNvSpPr txBox="1"/>
          <p:nvPr/>
        </p:nvSpPr>
        <p:spPr>
          <a:xfrm>
            <a:off x="6338438" y="1783080"/>
            <a:ext cx="1371600" cy="320040"/>
          </a:xfrm>
          <a:prstGeom prst="rect">
            <a:avLst/>
          </a:prstGeom>
          <a:noFill/>
          <a:ln/>
        </p:spPr>
        <p:txBody>
          <a:bodyPr wrap="square" lIns="0" tIns="0" rIns="0" bIns="0" rtlCol="0" anchor="t"/>
          <a:lstStyle/>
          <a:p>
            <a:pPr indent="0" marL="0">
              <a:buNone/>
            </a:pPr>
            <a:r>
              <a:rPr lang="en-US" sz="1700" b="1" dirty="0">
                <a:solidFill>
                  <a:schemeClr val="tx2"/>
                </a:solidFill>
              </a:rPr>
              <a:t>Decide</a:t>
            </a:r>
            <a:endParaRPr lang="en-US" sz="1700" dirty="0"/>
          </a:p>
        </p:txBody>
      </p:sp>
      <p:sp>
        <p:nvSpPr>
          <p:cNvPr id="18" name="Text 15"/>
          <p:cNvSpPr txBox="1"/>
          <p:nvPr/>
        </p:nvSpPr>
        <p:spPr>
          <a:xfrm>
            <a:off x="6338438" y="2194560"/>
            <a:ext cx="1371600" cy="1600200"/>
          </a:xfrm>
          <a:prstGeom prst="rect">
            <a:avLst/>
          </a:prstGeom>
          <a:noFill/>
          <a:ln/>
        </p:spPr>
        <p:txBody>
          <a:bodyPr wrap="square" lIns="0" tIns="0" rIns="0" bIns="0" rtlCol="0" anchor="t"/>
          <a:lstStyle/>
          <a:p>
            <a:pPr indent="0" marL="0">
              <a:buNone/>
            </a:pPr>
            <a:r>
              <a:rPr lang="en-US" sz="1400" dirty="0">
                <a:solidFill>
                  <a:schemeClr val="tx1"/>
                </a:solidFill>
              </a:rPr>
              <a:t>Skip if already processed or joined later; check basic salary</a:t>
            </a:r>
            <a:endParaRPr lang="en-US" sz="1400" dirty="0"/>
          </a:p>
        </p:txBody>
      </p:sp>
      <p:sp>
        <p:nvSpPr>
          <p:cNvPr id="19" name="Shape 16"/>
          <p:cNvSpPr/>
          <p:nvPr/>
        </p:nvSpPr>
        <p:spPr>
          <a:xfrm>
            <a:off x="7865486" y="2766060"/>
            <a:ext cx="174285" cy="0"/>
          </a:xfrm>
          <a:prstGeom prst="line">
            <a:avLst/>
          </a:prstGeom>
          <a:noFill/>
          <a:ln w="22225">
            <a:solidFill>
              <a:schemeClr val="accent5"/>
            </a:solidFill>
            <a:prstDash val="solid"/>
            <a:tailEnd type="triangle"/>
          </a:ln>
        </p:spPr>
      </p:sp>
      <p:sp>
        <p:nvSpPr>
          <p:cNvPr id="20" name="Shape 17"/>
          <p:cNvSpPr/>
          <p:nvPr/>
        </p:nvSpPr>
        <p:spPr>
          <a:xfrm>
            <a:off x="8067203" y="1645920"/>
            <a:ext cx="1627632" cy="2240280"/>
          </a:xfrm>
          <a:prstGeom prst="rect">
            <a:avLst/>
          </a:prstGeom>
          <a:solidFill>
            <a:schemeClr val="bg2"/>
          </a:solidFill>
          <a:ln/>
        </p:spPr>
      </p:sp>
      <p:sp>
        <p:nvSpPr>
          <p:cNvPr id="21" name="Text 18"/>
          <p:cNvSpPr txBox="1"/>
          <p:nvPr/>
        </p:nvSpPr>
        <p:spPr>
          <a:xfrm>
            <a:off x="8195219" y="1783080"/>
            <a:ext cx="1371600" cy="320040"/>
          </a:xfrm>
          <a:prstGeom prst="rect">
            <a:avLst/>
          </a:prstGeom>
          <a:noFill/>
          <a:ln/>
        </p:spPr>
        <p:txBody>
          <a:bodyPr wrap="square" lIns="0" tIns="0" rIns="0" bIns="0" rtlCol="0" anchor="t"/>
          <a:lstStyle/>
          <a:p>
            <a:pPr indent="0" marL="0">
              <a:buNone/>
            </a:pPr>
            <a:r>
              <a:rPr lang="en-US" sz="1700" b="1" dirty="0">
                <a:solidFill>
                  <a:schemeClr val="tx2"/>
                </a:solidFill>
              </a:rPr>
              <a:t>Calculate</a:t>
            </a:r>
            <a:endParaRPr lang="en-US" sz="1700" dirty="0"/>
          </a:p>
        </p:txBody>
      </p:sp>
      <p:sp>
        <p:nvSpPr>
          <p:cNvPr id="22" name="Text 19"/>
          <p:cNvSpPr txBox="1"/>
          <p:nvPr/>
        </p:nvSpPr>
        <p:spPr>
          <a:xfrm>
            <a:off x="8195219" y="2194560"/>
            <a:ext cx="1371600" cy="1600200"/>
          </a:xfrm>
          <a:prstGeom prst="rect">
            <a:avLst/>
          </a:prstGeom>
          <a:noFill/>
          <a:ln/>
        </p:spPr>
        <p:txBody>
          <a:bodyPr wrap="square" lIns="0" tIns="0" rIns="0" bIns="0" rtlCol="0" anchor="t"/>
          <a:lstStyle/>
          <a:p>
            <a:pPr indent="0" marL="0">
              <a:buNone/>
            </a:pPr>
            <a:r>
              <a:rPr lang="en-US" sz="1400" dirty="0">
                <a:solidFill>
                  <a:schemeClr val="tx1"/>
                </a:solidFill>
              </a:rPr>
              <a:t>Read structure and absent days; apply the formula</a:t>
            </a:r>
            <a:endParaRPr lang="en-US" sz="1400" dirty="0"/>
          </a:p>
        </p:txBody>
      </p:sp>
      <p:sp>
        <p:nvSpPr>
          <p:cNvPr id="23" name="Shape 20"/>
          <p:cNvSpPr/>
          <p:nvPr/>
        </p:nvSpPr>
        <p:spPr>
          <a:xfrm>
            <a:off x="9722267" y="2766060"/>
            <a:ext cx="174285" cy="0"/>
          </a:xfrm>
          <a:prstGeom prst="line">
            <a:avLst/>
          </a:prstGeom>
          <a:noFill/>
          <a:ln w="22225">
            <a:solidFill>
              <a:schemeClr val="accent5"/>
            </a:solidFill>
            <a:prstDash val="solid"/>
            <a:tailEnd type="triangle"/>
          </a:ln>
        </p:spPr>
      </p:sp>
      <p:sp>
        <p:nvSpPr>
          <p:cNvPr id="24" name="Shape 21"/>
          <p:cNvSpPr/>
          <p:nvPr/>
        </p:nvSpPr>
        <p:spPr>
          <a:xfrm>
            <a:off x="9923983" y="1645920"/>
            <a:ext cx="1627632" cy="2240280"/>
          </a:xfrm>
          <a:prstGeom prst="rect">
            <a:avLst/>
          </a:prstGeom>
          <a:solidFill>
            <a:schemeClr val="bg2"/>
          </a:solidFill>
          <a:ln/>
        </p:spPr>
      </p:sp>
      <p:sp>
        <p:nvSpPr>
          <p:cNvPr id="25" name="Text 22"/>
          <p:cNvSpPr txBox="1"/>
          <p:nvPr/>
        </p:nvSpPr>
        <p:spPr>
          <a:xfrm>
            <a:off x="10051999" y="1783080"/>
            <a:ext cx="1371600" cy="320040"/>
          </a:xfrm>
          <a:prstGeom prst="rect">
            <a:avLst/>
          </a:prstGeom>
          <a:noFill/>
          <a:ln/>
        </p:spPr>
        <p:txBody>
          <a:bodyPr wrap="square" lIns="0" tIns="0" rIns="0" bIns="0" rtlCol="0" anchor="t"/>
          <a:lstStyle/>
          <a:p>
            <a:pPr indent="0" marL="0">
              <a:buNone/>
            </a:pPr>
            <a:r>
              <a:rPr lang="en-US" sz="1700" b="1" dirty="0">
                <a:solidFill>
                  <a:schemeClr val="tx2"/>
                </a:solidFill>
              </a:rPr>
              <a:t>Save</a:t>
            </a:r>
            <a:endParaRPr lang="en-US" sz="1700" dirty="0"/>
          </a:p>
        </p:txBody>
      </p:sp>
      <p:sp>
        <p:nvSpPr>
          <p:cNvPr id="26" name="Text 23"/>
          <p:cNvSpPr txBox="1"/>
          <p:nvPr/>
        </p:nvSpPr>
        <p:spPr>
          <a:xfrm>
            <a:off x="10051999" y="2194560"/>
            <a:ext cx="1371600" cy="1600200"/>
          </a:xfrm>
          <a:prstGeom prst="rect">
            <a:avLst/>
          </a:prstGeom>
          <a:noFill/>
          <a:ln/>
        </p:spPr>
        <p:txBody>
          <a:bodyPr wrap="square" lIns="0" tIns="0" rIns="0" bIns="0" rtlCol="0" anchor="t"/>
          <a:lstStyle/>
          <a:p>
            <a:pPr indent="0" marL="0">
              <a:buNone/>
            </a:pPr>
            <a:r>
              <a:rPr lang="en-US" sz="1400" dirty="0">
                <a:solidFill>
                  <a:schemeClr val="tx1"/>
                </a:solidFill>
              </a:rPr>
              <a:t>Insert the payroll row and a GENERATED audit row</a:t>
            </a:r>
            <a:endParaRPr lang="en-US" sz="1400" dirty="0"/>
          </a:p>
        </p:txBody>
      </p:sp>
      <p:sp>
        <p:nvSpPr>
          <p:cNvPr id="27" name="Text 24"/>
          <p:cNvSpPr txBox="1"/>
          <p:nvPr/>
        </p:nvSpPr>
        <p:spPr>
          <a:xfrm>
            <a:off x="6210422" y="3977640"/>
            <a:ext cx="5341193" cy="274320"/>
          </a:xfrm>
          <a:prstGeom prst="rect">
            <a:avLst/>
          </a:prstGeom>
          <a:noFill/>
          <a:ln/>
        </p:spPr>
        <p:txBody>
          <a:bodyPr wrap="square" lIns="0" tIns="0" rIns="0" bIns="0" rtlCol="0" anchor="t"/>
          <a:lstStyle/>
          <a:p>
            <a:pPr indent="0" marL="0">
              <a:buNone/>
            </a:pPr>
            <a:r>
              <a:rPr lang="en-US" sz="1300" i="1" dirty="0">
                <a:solidFill>
                  <a:schemeClr val="accent5"/>
                </a:solidFill>
              </a:rPr>
              <a:t>Repeated for each active employee</a:t>
            </a:r>
            <a:endParaRPr lang="en-US" sz="1300" dirty="0"/>
          </a:p>
        </p:txBody>
      </p:sp>
      <p:sp>
        <p:nvSpPr>
          <p:cNvPr id="28" name="Shape 25"/>
          <p:cNvSpPr/>
          <p:nvPr/>
        </p:nvSpPr>
        <p:spPr>
          <a:xfrm>
            <a:off x="640080" y="4572000"/>
            <a:ext cx="5349240" cy="1417320"/>
          </a:xfrm>
          <a:prstGeom prst="rect">
            <a:avLst/>
          </a:prstGeom>
          <a:solidFill>
            <a:schemeClr val="bg2"/>
          </a:solidFill>
          <a:ln/>
        </p:spPr>
      </p:sp>
      <p:sp>
        <p:nvSpPr>
          <p:cNvPr id="29" name="Shape 26"/>
          <p:cNvSpPr/>
          <p:nvPr/>
        </p:nvSpPr>
        <p:spPr>
          <a:xfrm>
            <a:off x="6199632" y="4572000"/>
            <a:ext cx="5349240" cy="1417320"/>
          </a:xfrm>
          <a:prstGeom prst="rect">
            <a:avLst/>
          </a:prstGeom>
          <a:solidFill>
            <a:schemeClr val="bg2"/>
          </a:solidFill>
          <a:ln/>
        </p:spPr>
      </p:sp>
      <p:sp>
        <p:nvSpPr>
          <p:cNvPr id="30" name="Text 27"/>
          <p:cNvSpPr txBox="1"/>
          <p:nvPr/>
        </p:nvSpPr>
        <p:spPr>
          <a:xfrm>
            <a:off x="868680" y="4754880"/>
            <a:ext cx="4892040" cy="1097280"/>
          </a:xfrm>
          <a:prstGeom prst="rect">
            <a:avLst/>
          </a:prstGeom>
          <a:noFill/>
          <a:ln/>
        </p:spPr>
        <p:txBody>
          <a:bodyPr wrap="square" lIns="0" tIns="0" rIns="0" bIns="0" rtlCol="0" anchor="t"/>
          <a:lstStyle/>
          <a:p>
            <a:pPr indent="0" marL="0">
              <a:buNone/>
            </a:pPr>
            <a:r>
              <a:rPr lang="en-US" sz="1700" b="1" dirty="0">
                <a:solidFill>
                  <a:schemeClr val="accent1"/>
                </a:solidFill>
              </a:rPr>
              <a:t>All employees processed</a:t>
            </a:r>
            <a:endParaRPr lang="en-US" sz="1700" dirty="0"/>
          </a:p>
          <a:p>
            <a:pPr indent="0" marL="0">
              <a:buNone/>
            </a:pPr>
            <a:r>
              <a:rPr lang="en-US" sz="1500" dirty="0">
                <a:solidFill>
                  <a:schemeClr val="tx1"/>
                </a:solidFill>
              </a:rPr>
              <a:t>COMMIT. HR sees a summary: records created, skipped, and any employees that could not be processed.</a:t>
            </a:r>
            <a:endParaRPr lang="en-US" sz="1700" dirty="0"/>
          </a:p>
        </p:txBody>
      </p:sp>
      <p:sp>
        <p:nvSpPr>
          <p:cNvPr id="31" name="Text 28"/>
          <p:cNvSpPr txBox="1"/>
          <p:nvPr/>
        </p:nvSpPr>
        <p:spPr>
          <a:xfrm>
            <a:off x="6428232" y="4754880"/>
            <a:ext cx="4892040" cy="1097280"/>
          </a:xfrm>
          <a:prstGeom prst="rect">
            <a:avLst/>
          </a:prstGeom>
          <a:noFill/>
          <a:ln/>
        </p:spPr>
        <p:txBody>
          <a:bodyPr wrap="square" lIns="0" tIns="0" rIns="0" bIns="0" rtlCol="0" anchor="t"/>
          <a:lstStyle/>
          <a:p>
            <a:pPr indent="0" marL="0">
              <a:buNone/>
            </a:pPr>
            <a:r>
              <a:rPr lang="en-US" sz="1700" b="1" dirty="0">
                <a:solidFill>
                  <a:schemeClr val="accent6"/>
                </a:solidFill>
              </a:rPr>
              <a:t>Any error along the way</a:t>
            </a:r>
            <a:endParaRPr lang="en-US" sz="1700" dirty="0"/>
          </a:p>
          <a:p>
            <a:pPr indent="0" marL="0">
              <a:buNone/>
            </a:pPr>
            <a:r>
              <a:rPr lang="en-US" sz="1500" dirty="0">
                <a:solidFill>
                  <a:schemeClr val="tx1"/>
                </a:solidFill>
              </a:rPr>
              <a:t>ROLLBACK. Nothing is saved, so there are no half-finished months. Run it again once the cause is fixed.</a:t>
            </a:r>
            <a:endParaRPr lang="en-US" sz="17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Absences reduce basic pay, and the other amounts follow</a:t>
            </a:r>
            <a:endParaRPr lang="en-US" sz="3000" dirty="0"/>
          </a:p>
        </p:txBody>
      </p:sp>
      <p:sp>
        <p:nvSpPr>
          <p:cNvPr id="4" name="Text 1"/>
          <p:cNvSpPr txBox="1"/>
          <p:nvPr/>
        </p:nvSpPr>
        <p:spPr>
          <a:xfrm>
            <a:off x="640080" y="1645920"/>
            <a:ext cx="5212080" cy="3931920"/>
          </a:xfrm>
          <a:prstGeom prst="rect">
            <a:avLst/>
          </a:prstGeom>
          <a:noFill/>
          <a:ln/>
        </p:spPr>
        <p:txBody>
          <a:bodyPr wrap="square" lIns="0" tIns="0" rIns="0" bIns="0" rtlCol="0" anchor="t"/>
          <a:lstStyle/>
          <a:p>
            <a:pPr indent="0" marL="0">
              <a:buNone/>
            </a:pPr>
            <a:r>
              <a:rPr lang="en-US" sz="1600" b="1" dirty="0">
                <a:solidFill>
                  <a:schemeClr val="tx2"/>
                </a:solidFill>
              </a:rPr>
              <a:t>Working days</a:t>
            </a:r>
            <a:endParaRPr lang="en-US" sz="1600" dirty="0"/>
          </a:p>
          <a:p>
            <a:pPr indent="0" marL="0">
              <a:spcAft>
                <a:spcPts val="1100"/>
              </a:spcAft>
              <a:buNone/>
            </a:pPr>
            <a:r>
              <a:rPr lang="en-US" sz="1700" dirty="0">
                <a:solidFill>
                  <a:schemeClr val="tx1"/>
                </a:solidFill>
              </a:rPr>
              <a:t>Monday to Friday days in the month</a:t>
            </a:r>
            <a:endParaRPr lang="en-US" sz="1600" dirty="0"/>
          </a:p>
          <a:p>
            <a:pPr indent="0" marL="0">
              <a:buNone/>
            </a:pPr>
            <a:r>
              <a:rPr lang="en-US" sz="1600" b="1" dirty="0">
                <a:solidFill>
                  <a:schemeClr val="tx2"/>
                </a:solidFill>
              </a:rPr>
              <a:t>Basic</a:t>
            </a:r>
            <a:endParaRPr lang="en-US" sz="1600" dirty="0"/>
          </a:p>
          <a:p>
            <a:pPr indent="0" marL="0">
              <a:spcAft>
                <a:spcPts val="1100"/>
              </a:spcAft>
              <a:buNone/>
            </a:pPr>
            <a:r>
              <a:rPr lang="en-US" sz="1700" dirty="0">
                <a:solidFill>
                  <a:schemeClr val="tx1"/>
                </a:solidFill>
              </a:rPr>
              <a:t>basic salary × (working − absent) ÷ working</a:t>
            </a:r>
            <a:endParaRPr lang="en-US" sz="1600" dirty="0"/>
          </a:p>
          <a:p>
            <a:pPr indent="0" marL="0">
              <a:buNone/>
            </a:pPr>
            <a:r>
              <a:rPr lang="en-US" sz="1600" b="1" dirty="0">
                <a:solidFill>
                  <a:schemeClr val="tx2"/>
                </a:solidFill>
              </a:rPr>
              <a:t>HRA, DA</a:t>
            </a:r>
            <a:endParaRPr lang="en-US" sz="1600" dirty="0"/>
          </a:p>
          <a:p>
            <a:pPr indent="0" marL="0">
              <a:spcAft>
                <a:spcPts val="1100"/>
              </a:spcAft>
              <a:buNone/>
            </a:pPr>
            <a:r>
              <a:rPr lang="en-US" sz="1700" dirty="0">
                <a:solidFill>
                  <a:schemeClr val="tx1"/>
                </a:solidFill>
              </a:rPr>
              <a:t>basic × HRA %, basic × DA %</a:t>
            </a:r>
            <a:endParaRPr lang="en-US" sz="1600" dirty="0"/>
          </a:p>
          <a:p>
            <a:pPr indent="0" marL="0">
              <a:buNone/>
            </a:pPr>
            <a:r>
              <a:rPr lang="en-US" sz="1600" b="1" dirty="0">
                <a:solidFill>
                  <a:schemeClr val="tx2"/>
                </a:solidFill>
              </a:rPr>
              <a:t>Gross</a:t>
            </a:r>
            <a:endParaRPr lang="en-US" sz="1600" dirty="0"/>
          </a:p>
          <a:p>
            <a:pPr indent="0" marL="0">
              <a:spcAft>
                <a:spcPts val="1100"/>
              </a:spcAft>
              <a:buNone/>
            </a:pPr>
            <a:r>
              <a:rPr lang="en-US" sz="1700" dirty="0">
                <a:solidFill>
                  <a:schemeClr val="tx1"/>
                </a:solidFill>
              </a:rPr>
              <a:t>basic + HRA + DA</a:t>
            </a:r>
            <a:endParaRPr lang="en-US" sz="1600" dirty="0"/>
          </a:p>
          <a:p>
            <a:pPr indent="0" marL="0">
              <a:buNone/>
            </a:pPr>
            <a:r>
              <a:rPr lang="en-US" sz="1600" b="1" dirty="0">
                <a:solidFill>
                  <a:schemeClr val="tx2"/>
                </a:solidFill>
              </a:rPr>
              <a:t>PF, Tax</a:t>
            </a:r>
            <a:endParaRPr lang="en-US" sz="1600" dirty="0"/>
          </a:p>
          <a:p>
            <a:pPr indent="0" marL="0">
              <a:spcAft>
                <a:spcPts val="1100"/>
              </a:spcAft>
              <a:buNone/>
            </a:pPr>
            <a:r>
              <a:rPr lang="en-US" sz="1700" dirty="0">
                <a:solidFill>
                  <a:schemeClr val="tx1"/>
                </a:solidFill>
              </a:rPr>
              <a:t>PF = basic × PF %,  Tax = gross × tax %</a:t>
            </a:r>
            <a:endParaRPr lang="en-US" sz="1600" dirty="0"/>
          </a:p>
          <a:p>
            <a:pPr indent="0" marL="0">
              <a:buNone/>
            </a:pPr>
            <a:r>
              <a:rPr lang="en-US" sz="1600" b="1" dirty="0">
                <a:solidFill>
                  <a:schemeClr val="tx2"/>
                </a:solidFill>
              </a:rPr>
              <a:t>Net salary</a:t>
            </a:r>
            <a:endParaRPr lang="en-US" sz="1600" dirty="0"/>
          </a:p>
          <a:p>
            <a:pPr indent="0" marL="0">
              <a:spcAft>
                <a:spcPts val="1100"/>
              </a:spcAft>
              <a:buNone/>
            </a:pPr>
            <a:r>
              <a:rPr lang="en-US" sz="1700" dirty="0">
                <a:solidFill>
                  <a:schemeClr val="tx1"/>
                </a:solidFill>
              </a:rPr>
              <a:t>gross − (PF + Tax)</a:t>
            </a:r>
            <a:endParaRPr lang="en-US" sz="1600" dirty="0"/>
          </a:p>
        </p:txBody>
      </p:sp>
      <p:sp>
        <p:nvSpPr>
          <p:cNvPr id="5" name="Text 2"/>
          <p:cNvSpPr txBox="1"/>
          <p:nvPr/>
        </p:nvSpPr>
        <p:spPr>
          <a:xfrm>
            <a:off x="640080" y="5486400"/>
            <a:ext cx="5212080" cy="731520"/>
          </a:xfrm>
          <a:prstGeom prst="rect">
            <a:avLst/>
          </a:prstGeom>
          <a:noFill/>
          <a:ln/>
        </p:spPr>
        <p:txBody>
          <a:bodyPr wrap="square" lIns="0" tIns="0" rIns="0" bIns="0" rtlCol="0" anchor="t"/>
          <a:lstStyle/>
          <a:p>
            <a:pPr indent="0" marL="0">
              <a:buNone/>
            </a:pPr>
            <a:r>
              <a:rPr lang="en-US" sz="1400" dirty="0">
                <a:solidFill>
                  <a:schemeClr val="accent5"/>
                </a:solidFill>
              </a:rPr>
              <a:t>Leave is paid; days with no record count as present. A new employee starts with HRA 20, DA 10, PF 12 and tax 5 percent, editable per employee.</a:t>
            </a:r>
            <a:endParaRPr lang="en-US" sz="1400" dirty="0"/>
          </a:p>
        </p:txBody>
      </p:sp>
      <p:sp>
        <p:nvSpPr>
          <p:cNvPr id="6" name="Text 3"/>
          <p:cNvSpPr txBox="1"/>
          <p:nvPr/>
        </p:nvSpPr>
        <p:spPr>
          <a:xfrm>
            <a:off x="6400800" y="1645920"/>
            <a:ext cx="5150815" cy="320040"/>
          </a:xfrm>
          <a:prstGeom prst="rect">
            <a:avLst/>
          </a:prstGeom>
          <a:noFill/>
          <a:ln/>
        </p:spPr>
        <p:txBody>
          <a:bodyPr wrap="square" lIns="0" tIns="0" rIns="0" bIns="0" rtlCol="0" anchor="t"/>
          <a:lstStyle/>
          <a:p>
            <a:pPr indent="0" marL="0">
              <a:buNone/>
            </a:pPr>
            <a:r>
              <a:rPr lang="en-US" sz="1600" b="1" dirty="0">
                <a:solidFill>
                  <a:schemeClr val="tx2"/>
                </a:solidFill>
              </a:rPr>
              <a:t>Worked example: basic salary 60,000, no absences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103120"/>
          <a:ext cx="5150815" cy="914400"/>
        </p:xfrm>
        <a:graphic>
          <a:graphicData uri="http://schemas.openxmlformats.org/drawingml/2006/table">
            <a:tbl>
              <a:tblPr/>
              <a:tblGrid>
                <a:gridCol w="3413455"/>
                <a:gridCol w="1737360"/>
              </a:tblGrid>
              <a:tr h="420624">
                <a:tc>
                  <a:txBody>
                    <a:bodyPr/>
                    <a:lstStyle/>
                    <a:p>
                      <a:pPr indent="0" marL="0">
                        <a:buNone/>
                      </a:pPr>
                      <a:r>
                        <a:rPr lang="en-US" sz="1600" dirty="0">
                          <a:solidFill>
                            <a:schemeClr val="tx1"/>
                          </a:solidFill>
                        </a:rPr>
                        <a:t>Basic</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600" dirty="0">
                          <a:solidFill>
                            <a:schemeClr val="tx1"/>
                          </a:solidFill>
                        </a:rPr>
                        <a:t>60,000.00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600" dirty="0">
                          <a:solidFill>
                            <a:schemeClr val="tx1"/>
                          </a:solidFill>
                        </a:rPr>
                        <a:t>HRA (20%)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600" dirty="0">
                          <a:solidFill>
                            <a:schemeClr val="tx1"/>
                          </a:solidFill>
                        </a:rPr>
                        <a:t>12,000.00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600" dirty="0">
                          <a:solidFill>
                            <a:schemeClr val="tx1"/>
                          </a:solidFill>
                        </a:rPr>
                        <a:t>DA (10%)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600" dirty="0">
                          <a:solidFill>
                            <a:schemeClr val="tx1"/>
                          </a:solidFill>
                        </a:rPr>
                        <a:t>6,000.00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600" b="1" dirty="0">
                          <a:solidFill>
                            <a:schemeClr val="tx1"/>
                          </a:solidFill>
                        </a:rPr>
                        <a:t>Gross salary</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600" b="1" dirty="0">
                          <a:solidFill>
                            <a:schemeClr val="tx1"/>
                          </a:solidFill>
                        </a:rPr>
                        <a:t>78,000.00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600" dirty="0">
                          <a:solidFill>
                            <a:schemeClr val="tx1"/>
                          </a:solidFill>
                        </a:rPr>
                        <a:t>PF (12% of basic)</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600" dirty="0">
                          <a:solidFill>
                            <a:schemeClr val="tx1"/>
                          </a:solidFill>
                        </a:rPr>
                        <a:t>7,200.00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600" dirty="0">
                          <a:solidFill>
                            <a:schemeClr val="tx1"/>
                          </a:solidFill>
                        </a:rPr>
                        <a:t>Tax (5% of gross)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600" dirty="0">
                          <a:solidFill>
                            <a:schemeClr val="tx1"/>
                          </a:solidFill>
                        </a:rPr>
                        <a:t>3,900.00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600" b="1" dirty="0">
                          <a:solidFill>
                            <a:schemeClr val="tx1"/>
                          </a:solidFill>
                        </a:rPr>
                        <a:t>Total deductions</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600" b="1" dirty="0">
                          <a:solidFill>
                            <a:schemeClr val="tx1"/>
                          </a:solidFill>
                        </a:rPr>
                        <a:t>11,100.00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600" b="1" dirty="0">
                          <a:solidFill>
                            <a:schemeClr val="bg1"/>
                          </a:solidFill>
                        </a:rPr>
                        <a:t>Net salary</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600" b="1" dirty="0">
                          <a:solidFill>
                            <a:schemeClr val="bg1"/>
                          </a:solidFill>
                        </a:rPr>
                        <a:t>66,900.00</a:t>
                      </a:r>
                      <a:endParaRPr lang="en-US" sz="1600" dirty="0"/>
                    </a:p>
                  </a:txBody>
                  <a:tcPr marL="128016" marR="128016" marT="0" marB="0" anchor="ctr">
                    <a:lnL w="0" cap="flat" cmpd="sng" algn="ctr">
                      <a:noFill/>
                    </a:lnL>
                    <a:lnR w="0" cap="flat" cmpd="sng" algn="ctr">
                      <a:noFill/>
                    </a:lnR>
                    <a:lnT w="0" cap="flat" cmpd="sng" algn="ctr">
                      <a:noFill/>
                    </a:lnT>
                    <a:lnB w="0" cap="flat" cmpd="sng" algn="ctr">
                      <a:noFill/>
                    </a:lnB>
                    <a:solidFill>
                      <a:schemeClr val="tx2"/>
                    </a:solidFill>
                  </a:tcPr>
                </a:tc>
              </a:tr>
            </a:tbl>
          </a:graphicData>
        </a:graphic>
      </p:graphicFrame>
      <p:sp>
        <p:nvSpPr>
          <p:cNvPr id="8" name="Text 4"/>
          <p:cNvSpPr txBox="1"/>
          <p:nvPr/>
        </p:nvSpPr>
        <p:spPr>
          <a:xfrm>
            <a:off x="6400800" y="5669280"/>
            <a:ext cx="5150815" cy="594360"/>
          </a:xfrm>
          <a:prstGeom prst="rect">
            <a:avLst/>
          </a:prstGeom>
          <a:noFill/>
          <a:ln/>
        </p:spPr>
        <p:txBody>
          <a:bodyPr wrap="square" lIns="0" tIns="0" rIns="0" bIns="0" rtlCol="0" anchor="t"/>
          <a:lstStyle/>
          <a:p>
            <a:pPr indent="0" marL="0">
              <a:buNone/>
            </a:pPr>
            <a:r>
              <a:rPr lang="en-US" sz="1300" dirty="0">
                <a:solidFill>
                  <a:schemeClr val="accent5"/>
                </a:solidFill>
              </a:rPr>
              <a:t>With one absent day out of 23 working days (January 2025), basic becomes 57,391.30 before the percentages apply. Figures are from the project's unit tests.</a:t>
            </a:r>
            <a:endParaRPr lang="en-US" sz="13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A payroll record moves through four states, and PAID is final</a:t>
            </a:r>
            <a:endParaRPr lang="en-US" sz="3000" dirty="0"/>
          </a:p>
        </p:txBody>
      </p:sp>
      <p:sp>
        <p:nvSpPr>
          <p:cNvPr id="4" name="Shape 1"/>
          <p:cNvSpPr/>
          <p:nvPr/>
        </p:nvSpPr>
        <p:spPr>
          <a:xfrm>
            <a:off x="640080" y="1920240"/>
            <a:ext cx="2286000" cy="822960"/>
          </a:xfrm>
          <a:prstGeom prst="roundRect">
            <a:avLst>
              <a:gd name="adj" fmla="val 13333"/>
            </a:avLst>
          </a:prstGeom>
          <a:solidFill>
            <a:schemeClr val="accent3"/>
          </a:solidFill>
          <a:ln/>
        </p:spPr>
      </p:sp>
      <p:sp>
        <p:nvSpPr>
          <p:cNvPr id="5" name="Text 2"/>
          <p:cNvSpPr txBox="1"/>
          <p:nvPr/>
        </p:nvSpPr>
        <p:spPr>
          <a:xfrm>
            <a:off x="640080" y="1920240"/>
            <a:ext cx="2286000" cy="822960"/>
          </a:xfrm>
          <a:prstGeom prst="rect">
            <a:avLst/>
          </a:prstGeom>
          <a:noFill/>
          <a:ln/>
        </p:spPr>
        <p:txBody>
          <a:bodyPr wrap="square" lIns="0" tIns="0" rIns="0" bIns="0" rtlCol="0" anchor="ctr"/>
          <a:lstStyle/>
          <a:p>
            <a:pPr algn="ctr" indent="0" marL="0">
              <a:buNone/>
            </a:pPr>
            <a:r>
              <a:rPr lang="en-US" sz="1800" b="1" dirty="0">
                <a:solidFill>
                  <a:schemeClr val="bg1"/>
                </a:solidFill>
              </a:rPr>
              <a:t>GENERATED</a:t>
            </a:r>
            <a:endParaRPr lang="en-US" sz="1800" dirty="0"/>
          </a:p>
        </p:txBody>
      </p:sp>
      <p:sp>
        <p:nvSpPr>
          <p:cNvPr id="6" name="Shape 3"/>
          <p:cNvSpPr/>
          <p:nvPr/>
        </p:nvSpPr>
        <p:spPr>
          <a:xfrm>
            <a:off x="4160520" y="1920240"/>
            <a:ext cx="2286000" cy="822960"/>
          </a:xfrm>
          <a:prstGeom prst="roundRect">
            <a:avLst>
              <a:gd name="adj" fmla="val 13333"/>
            </a:avLst>
          </a:prstGeom>
          <a:solidFill>
            <a:schemeClr val="accent1"/>
          </a:solidFill>
          <a:ln/>
        </p:spPr>
      </p:sp>
      <p:sp>
        <p:nvSpPr>
          <p:cNvPr id="7" name="Text 4"/>
          <p:cNvSpPr txBox="1"/>
          <p:nvPr/>
        </p:nvSpPr>
        <p:spPr>
          <a:xfrm>
            <a:off x="4160520" y="1920240"/>
            <a:ext cx="2286000" cy="822960"/>
          </a:xfrm>
          <a:prstGeom prst="rect">
            <a:avLst/>
          </a:prstGeom>
          <a:noFill/>
          <a:ln/>
        </p:spPr>
        <p:txBody>
          <a:bodyPr wrap="square" lIns="0" tIns="0" rIns="0" bIns="0" rtlCol="0" anchor="ctr"/>
          <a:lstStyle/>
          <a:p>
            <a:pPr algn="ctr" indent="0" marL="0">
              <a:buNone/>
            </a:pPr>
            <a:r>
              <a:rPr lang="en-US" sz="1800" b="1" dirty="0">
                <a:solidFill>
                  <a:schemeClr val="bg1"/>
                </a:solidFill>
              </a:rPr>
              <a:t>VERIFIED</a:t>
            </a:r>
            <a:endParaRPr lang="en-US" sz="1800" dirty="0"/>
          </a:p>
        </p:txBody>
      </p:sp>
      <p:sp>
        <p:nvSpPr>
          <p:cNvPr id="8" name="Shape 5"/>
          <p:cNvSpPr/>
          <p:nvPr/>
        </p:nvSpPr>
        <p:spPr>
          <a:xfrm>
            <a:off x="7680960" y="1920240"/>
            <a:ext cx="2286000" cy="822960"/>
          </a:xfrm>
          <a:prstGeom prst="roundRect">
            <a:avLst>
              <a:gd name="adj" fmla="val 13333"/>
            </a:avLst>
          </a:prstGeom>
          <a:solidFill>
            <a:schemeClr val="tx2"/>
          </a:solidFill>
          <a:ln/>
        </p:spPr>
      </p:sp>
      <p:sp>
        <p:nvSpPr>
          <p:cNvPr id="9" name="Text 6"/>
          <p:cNvSpPr txBox="1"/>
          <p:nvPr/>
        </p:nvSpPr>
        <p:spPr>
          <a:xfrm>
            <a:off x="7680960" y="1920240"/>
            <a:ext cx="2286000" cy="822960"/>
          </a:xfrm>
          <a:prstGeom prst="rect">
            <a:avLst/>
          </a:prstGeom>
          <a:noFill/>
          <a:ln/>
        </p:spPr>
        <p:txBody>
          <a:bodyPr wrap="square" lIns="0" tIns="0" rIns="0" bIns="0" rtlCol="0" anchor="ctr"/>
          <a:lstStyle/>
          <a:p>
            <a:pPr algn="ctr" indent="0" marL="0">
              <a:buNone/>
            </a:pPr>
            <a:r>
              <a:rPr lang="en-US" sz="1800" b="1" dirty="0">
                <a:solidFill>
                  <a:schemeClr val="bg1"/>
                </a:solidFill>
              </a:rPr>
              <a:t>PAID</a:t>
            </a:r>
            <a:endParaRPr lang="en-US" sz="1800" dirty="0"/>
          </a:p>
        </p:txBody>
      </p:sp>
      <p:sp>
        <p:nvSpPr>
          <p:cNvPr id="10" name="Shape 7"/>
          <p:cNvSpPr/>
          <p:nvPr/>
        </p:nvSpPr>
        <p:spPr>
          <a:xfrm>
            <a:off x="2926080" y="2331720"/>
            <a:ext cx="1234440" cy="0"/>
          </a:xfrm>
          <a:prstGeom prst="line">
            <a:avLst/>
          </a:prstGeom>
          <a:noFill/>
          <a:ln w="22225">
            <a:solidFill>
              <a:schemeClr val="accent5"/>
            </a:solidFill>
            <a:prstDash val="solid"/>
            <a:tailEnd type="triangle"/>
          </a:ln>
        </p:spPr>
      </p:sp>
      <p:sp>
        <p:nvSpPr>
          <p:cNvPr id="11" name="Text 8"/>
          <p:cNvSpPr txBox="1"/>
          <p:nvPr/>
        </p:nvSpPr>
        <p:spPr>
          <a:xfrm>
            <a:off x="3127248" y="2029968"/>
            <a:ext cx="914400" cy="256032"/>
          </a:xfrm>
          <a:prstGeom prst="rect">
            <a:avLst/>
          </a:prstGeom>
          <a:noFill/>
          <a:ln/>
        </p:spPr>
        <p:txBody>
          <a:bodyPr wrap="square" lIns="0" tIns="0" rIns="0" bIns="0" rtlCol="0" anchor="t"/>
          <a:lstStyle/>
          <a:p>
            <a:pPr indent="0" marL="0">
              <a:buNone/>
            </a:pPr>
            <a:r>
              <a:rPr lang="en-US" sz="1300" i="1" dirty="0">
                <a:solidFill>
                  <a:schemeClr val="accent5"/>
                </a:solidFill>
              </a:rPr>
              <a:t>verify()</a:t>
            </a:r>
            <a:endParaRPr lang="en-US" sz="1300" dirty="0"/>
          </a:p>
        </p:txBody>
      </p:sp>
      <p:sp>
        <p:nvSpPr>
          <p:cNvPr id="12" name="Shape 9"/>
          <p:cNvSpPr/>
          <p:nvPr/>
        </p:nvSpPr>
        <p:spPr>
          <a:xfrm>
            <a:off x="6446520" y="2331720"/>
            <a:ext cx="1234440" cy="0"/>
          </a:xfrm>
          <a:prstGeom prst="line">
            <a:avLst/>
          </a:prstGeom>
          <a:noFill/>
          <a:ln w="22225">
            <a:solidFill>
              <a:schemeClr val="accent5"/>
            </a:solidFill>
            <a:prstDash val="solid"/>
            <a:tailEnd type="triangle"/>
          </a:ln>
        </p:spPr>
      </p:sp>
      <p:sp>
        <p:nvSpPr>
          <p:cNvPr id="13" name="Text 10"/>
          <p:cNvSpPr txBox="1"/>
          <p:nvPr/>
        </p:nvSpPr>
        <p:spPr>
          <a:xfrm>
            <a:off x="6583680" y="2029968"/>
            <a:ext cx="1005840" cy="256032"/>
          </a:xfrm>
          <a:prstGeom prst="rect">
            <a:avLst/>
          </a:prstGeom>
          <a:noFill/>
          <a:ln/>
        </p:spPr>
        <p:txBody>
          <a:bodyPr wrap="square" lIns="0" tIns="0" rIns="0" bIns="0" rtlCol="0" anchor="t"/>
          <a:lstStyle/>
          <a:p>
            <a:pPr indent="0" marL="0">
              <a:buNone/>
            </a:pPr>
            <a:r>
              <a:rPr lang="en-US" sz="1300" i="1" dirty="0">
                <a:solidFill>
                  <a:schemeClr val="accent5"/>
                </a:solidFill>
              </a:rPr>
              <a:t>markPaid()</a:t>
            </a:r>
            <a:endParaRPr lang="en-US" sz="1300" dirty="0"/>
          </a:p>
        </p:txBody>
      </p:sp>
      <p:sp>
        <p:nvSpPr>
          <p:cNvPr id="14" name="Text 11"/>
          <p:cNvSpPr txBox="1"/>
          <p:nvPr/>
        </p:nvSpPr>
        <p:spPr>
          <a:xfrm>
            <a:off x="7680960" y="2816352"/>
            <a:ext cx="2286000" cy="256032"/>
          </a:xfrm>
          <a:prstGeom prst="rect">
            <a:avLst/>
          </a:prstGeom>
          <a:noFill/>
          <a:ln/>
        </p:spPr>
        <p:txBody>
          <a:bodyPr wrap="square" lIns="0" tIns="0" rIns="0" bIns="0" rtlCol="0" anchor="t"/>
          <a:lstStyle/>
          <a:p>
            <a:pPr algn="ctr" indent="0" marL="0">
              <a:buNone/>
            </a:pPr>
            <a:r>
              <a:rPr lang="en-US" sz="1300" i="1" dirty="0">
                <a:solidFill>
                  <a:schemeClr val="accent5"/>
                </a:solidFill>
              </a:rPr>
              <a:t>final</a:t>
            </a:r>
            <a:endParaRPr lang="en-US" sz="1300" dirty="0"/>
          </a:p>
        </p:txBody>
      </p:sp>
      <p:sp>
        <p:nvSpPr>
          <p:cNvPr id="15" name="Shape 12"/>
          <p:cNvSpPr/>
          <p:nvPr/>
        </p:nvSpPr>
        <p:spPr>
          <a:xfrm>
            <a:off x="2377440" y="3977640"/>
            <a:ext cx="2286000" cy="822960"/>
          </a:xfrm>
          <a:prstGeom prst="roundRect">
            <a:avLst>
              <a:gd name="adj" fmla="val 13333"/>
            </a:avLst>
          </a:prstGeom>
          <a:solidFill>
            <a:schemeClr val="accent6"/>
          </a:solidFill>
          <a:ln/>
        </p:spPr>
      </p:sp>
      <p:sp>
        <p:nvSpPr>
          <p:cNvPr id="16" name="Text 13"/>
          <p:cNvSpPr txBox="1"/>
          <p:nvPr/>
        </p:nvSpPr>
        <p:spPr>
          <a:xfrm>
            <a:off x="2377440" y="3977640"/>
            <a:ext cx="2286000" cy="822960"/>
          </a:xfrm>
          <a:prstGeom prst="rect">
            <a:avLst/>
          </a:prstGeom>
          <a:noFill/>
          <a:ln/>
        </p:spPr>
        <p:txBody>
          <a:bodyPr wrap="square" lIns="0" tIns="0" rIns="0" bIns="0" rtlCol="0" anchor="ctr"/>
          <a:lstStyle/>
          <a:p>
            <a:pPr algn="ctr" indent="0" marL="0">
              <a:buNone/>
            </a:pPr>
            <a:r>
              <a:rPr lang="en-US" sz="1800" b="1" dirty="0">
                <a:solidFill>
                  <a:schemeClr val="bg1"/>
                </a:solidFill>
              </a:rPr>
              <a:t>CANCELLED</a:t>
            </a:r>
            <a:endParaRPr lang="en-US" sz="1800" dirty="0"/>
          </a:p>
        </p:txBody>
      </p:sp>
      <p:sp>
        <p:nvSpPr>
          <p:cNvPr id="17" name="Shape 14"/>
          <p:cNvSpPr/>
          <p:nvPr/>
        </p:nvSpPr>
        <p:spPr>
          <a:xfrm>
            <a:off x="1325880" y="2743200"/>
            <a:ext cx="0" cy="1645920"/>
          </a:xfrm>
          <a:prstGeom prst="line">
            <a:avLst/>
          </a:prstGeom>
          <a:noFill/>
          <a:ln w="22225">
            <a:solidFill>
              <a:schemeClr val="accent5"/>
            </a:solidFill>
            <a:prstDash val="solid"/>
          </a:ln>
        </p:spPr>
      </p:sp>
      <p:sp>
        <p:nvSpPr>
          <p:cNvPr id="18" name="Shape 15"/>
          <p:cNvSpPr/>
          <p:nvPr/>
        </p:nvSpPr>
        <p:spPr>
          <a:xfrm>
            <a:off x="1325880" y="4389120"/>
            <a:ext cx="1051560" cy="0"/>
          </a:xfrm>
          <a:prstGeom prst="line">
            <a:avLst/>
          </a:prstGeom>
          <a:noFill/>
          <a:ln w="22225">
            <a:solidFill>
              <a:schemeClr val="accent5"/>
            </a:solidFill>
            <a:prstDash val="solid"/>
            <a:tailEnd type="triangle"/>
          </a:ln>
        </p:spPr>
      </p:sp>
      <p:sp>
        <p:nvSpPr>
          <p:cNvPr id="19" name="Text 16"/>
          <p:cNvSpPr txBox="1"/>
          <p:nvPr/>
        </p:nvSpPr>
        <p:spPr>
          <a:xfrm>
            <a:off x="1389888" y="4087368"/>
            <a:ext cx="914400" cy="256032"/>
          </a:xfrm>
          <a:prstGeom prst="rect">
            <a:avLst/>
          </a:prstGeom>
          <a:noFill/>
          <a:ln/>
        </p:spPr>
        <p:txBody>
          <a:bodyPr wrap="square" lIns="0" tIns="0" rIns="0" bIns="0" rtlCol="0" anchor="t"/>
          <a:lstStyle/>
          <a:p>
            <a:pPr indent="0" marL="0">
              <a:buNone/>
            </a:pPr>
            <a:r>
              <a:rPr lang="en-US" sz="1300" i="1" dirty="0">
                <a:solidFill>
                  <a:schemeClr val="accent5"/>
                </a:solidFill>
              </a:rPr>
              <a:t>cancel()</a:t>
            </a:r>
            <a:endParaRPr lang="en-US" sz="1300" dirty="0"/>
          </a:p>
        </p:txBody>
      </p:sp>
      <p:sp>
        <p:nvSpPr>
          <p:cNvPr id="20" name="Shape 17"/>
          <p:cNvSpPr/>
          <p:nvPr/>
        </p:nvSpPr>
        <p:spPr>
          <a:xfrm>
            <a:off x="4297680" y="2743200"/>
            <a:ext cx="0" cy="1234440"/>
          </a:xfrm>
          <a:prstGeom prst="line">
            <a:avLst/>
          </a:prstGeom>
          <a:noFill/>
          <a:ln w="22225">
            <a:solidFill>
              <a:schemeClr val="accent5"/>
            </a:solidFill>
            <a:prstDash val="solid"/>
            <a:tailEnd type="triangle"/>
          </a:ln>
        </p:spPr>
      </p:sp>
      <p:sp>
        <p:nvSpPr>
          <p:cNvPr id="21" name="Text 18"/>
          <p:cNvSpPr txBox="1"/>
          <p:nvPr/>
        </p:nvSpPr>
        <p:spPr>
          <a:xfrm>
            <a:off x="4389120" y="3063240"/>
            <a:ext cx="914400" cy="256032"/>
          </a:xfrm>
          <a:prstGeom prst="rect">
            <a:avLst/>
          </a:prstGeom>
          <a:noFill/>
          <a:ln/>
        </p:spPr>
        <p:txBody>
          <a:bodyPr wrap="square" lIns="0" tIns="0" rIns="0" bIns="0" rtlCol="0" anchor="t"/>
          <a:lstStyle/>
          <a:p>
            <a:pPr indent="0" marL="0">
              <a:buNone/>
            </a:pPr>
            <a:r>
              <a:rPr lang="en-US" sz="1300" i="1" dirty="0">
                <a:solidFill>
                  <a:schemeClr val="accent5"/>
                </a:solidFill>
              </a:rPr>
              <a:t>cancel()</a:t>
            </a:r>
            <a:endParaRPr lang="en-US" sz="1300" dirty="0"/>
          </a:p>
        </p:txBody>
      </p:sp>
      <p:sp>
        <p:nvSpPr>
          <p:cNvPr id="22" name="Shape 19"/>
          <p:cNvSpPr/>
          <p:nvPr/>
        </p:nvSpPr>
        <p:spPr>
          <a:xfrm flipV="1">
            <a:off x="2743200" y="2743200"/>
            <a:ext cx="0" cy="1234440"/>
          </a:xfrm>
          <a:prstGeom prst="line">
            <a:avLst/>
          </a:prstGeom>
          <a:noFill/>
          <a:ln w="22225">
            <a:solidFill>
              <a:schemeClr val="accent5"/>
            </a:solidFill>
            <a:prstDash val="solid"/>
            <a:tailEnd type="triangle"/>
          </a:ln>
        </p:spPr>
      </p:sp>
      <p:sp>
        <p:nvSpPr>
          <p:cNvPr id="23" name="Text 20"/>
          <p:cNvSpPr txBox="1"/>
          <p:nvPr/>
        </p:nvSpPr>
        <p:spPr>
          <a:xfrm>
            <a:off x="2834640" y="3063240"/>
            <a:ext cx="1097280" cy="256032"/>
          </a:xfrm>
          <a:prstGeom prst="rect">
            <a:avLst/>
          </a:prstGeom>
          <a:noFill/>
          <a:ln/>
        </p:spPr>
        <p:txBody>
          <a:bodyPr wrap="square" lIns="0" tIns="0" rIns="0" bIns="0" rtlCol="0" anchor="t"/>
          <a:lstStyle/>
          <a:p>
            <a:pPr indent="0" marL="0">
              <a:buNone/>
            </a:pPr>
            <a:r>
              <a:rPr lang="en-US" sz="1300" i="1" dirty="0">
                <a:solidFill>
                  <a:schemeClr val="accent5"/>
                </a:solidFill>
              </a:rPr>
              <a:t>reprocess()</a:t>
            </a:r>
            <a:endParaRPr lang="en-US" sz="1300" dirty="0"/>
          </a:p>
        </p:txBody>
      </p:sp>
      <p:sp>
        <p:nvSpPr>
          <p:cNvPr id="24" name="Text 21"/>
          <p:cNvSpPr txBox="1"/>
          <p:nvPr/>
        </p:nvSpPr>
        <p:spPr>
          <a:xfrm>
            <a:off x="5577840" y="3657600"/>
            <a:ext cx="5973775" cy="2560320"/>
          </a:xfrm>
          <a:prstGeom prst="rect">
            <a:avLst/>
          </a:prstGeom>
          <a:noFill/>
          <a:ln/>
        </p:spPr>
        <p:txBody>
          <a:bodyPr wrap="square" lIns="0" tIns="0" rIns="0" bIns="0" rtlCol="0" anchor="t"/>
          <a:lstStyle/>
          <a:p>
            <a:pPr indent="0" marL="0">
              <a:buNone/>
            </a:pPr>
            <a:r>
              <a:rPr lang="en-US" sz="1600" b="1" dirty="0">
                <a:solidFill>
                  <a:schemeClr val="accent3"/>
                </a:solidFill>
              </a:rPr>
              <a:t>GENERATED  </a:t>
            </a:r>
            <a:pPr indent="0" marL="0">
              <a:spcAft>
                <a:spcPts val="1400"/>
              </a:spcAft>
              <a:buNone/>
            </a:pPr>
            <a:r>
              <a:rPr lang="en-US" sz="1600" dirty="0">
                <a:solidFill>
                  <a:schemeClr val="tx1"/>
                </a:solidFill>
              </a:rPr>
              <a:t>Figures calculated. HR can recalculate from the latest attendance and salary structure. Hidden from the employee.</a:t>
            </a:r>
            <a:endParaRPr lang="en-US" sz="1600" dirty="0"/>
          </a:p>
          <a:p>
            <a:pPr indent="0" marL="0">
              <a:buNone/>
            </a:pPr>
            <a:r>
              <a:rPr lang="en-US" sz="1600" b="1" dirty="0">
                <a:solidFill>
                  <a:schemeClr val="accent1"/>
                </a:solidFill>
              </a:rPr>
              <a:t>VERIFIED  </a:t>
            </a:r>
            <a:pPr indent="0" marL="0">
              <a:spcAft>
                <a:spcPts val="1400"/>
              </a:spcAft>
              <a:buNone/>
            </a:pPr>
            <a:r>
              <a:rPr lang="en-US" sz="1600" dirty="0">
                <a:solidFill>
                  <a:schemeClr val="tx1"/>
                </a:solidFill>
              </a:rPr>
              <a:t>Approved by HR. The employee can now see and download the payslip.</a:t>
            </a:r>
            <a:endParaRPr lang="en-US" sz="1600" dirty="0"/>
          </a:p>
          <a:p>
            <a:pPr indent="0" marL="0">
              <a:buNone/>
            </a:pPr>
            <a:r>
              <a:rPr lang="en-US" sz="1600" b="1" dirty="0">
                <a:solidFill>
                  <a:schemeClr val="tx2"/>
                </a:solidFill>
              </a:rPr>
              <a:t>PAID  </a:t>
            </a:r>
            <a:pPr indent="0" marL="0">
              <a:spcAft>
                <a:spcPts val="1400"/>
              </a:spcAft>
              <a:buNone/>
            </a:pPr>
            <a:r>
              <a:rPr lang="en-US" sz="1600" dirty="0">
                <a:solidFill>
                  <a:schemeClr val="tx1"/>
                </a:solidFill>
              </a:rPr>
              <a:t>Payment recorded. No further changes.</a:t>
            </a:r>
            <a:endParaRPr lang="en-US" sz="1600" dirty="0"/>
          </a:p>
          <a:p>
            <a:pPr indent="0" marL="0">
              <a:buNone/>
            </a:pPr>
            <a:r>
              <a:rPr lang="en-US" sz="1600" b="1" dirty="0">
                <a:solidFill>
                  <a:schemeClr val="accent6"/>
                </a:solidFill>
              </a:rPr>
              <a:t>CANCELLED  </a:t>
            </a:r>
            <a:pPr indent="0" marL="0">
              <a:spcAft>
                <a:spcPts val="1400"/>
              </a:spcAft>
              <a:buNone/>
            </a:pPr>
            <a:r>
              <a:rPr lang="en-US" sz="1600" dirty="0">
                <a:solidFill>
                  <a:schemeClr val="tx1"/>
                </a:solidFill>
              </a:rPr>
              <a:t>Left out of month totals. Can be reprocessed.</a:t>
            </a:r>
            <a:endParaRPr lang="en-US" sz="1600" dirty="0"/>
          </a:p>
        </p:txBody>
      </p:sp>
      <p:sp>
        <p:nvSpPr>
          <p:cNvPr id="25" name="Text 22"/>
          <p:cNvSpPr txBox="1"/>
          <p:nvPr/>
        </p:nvSpPr>
        <p:spPr>
          <a:xfrm>
            <a:off x="640080" y="5349240"/>
            <a:ext cx="4663440" cy="640080"/>
          </a:xfrm>
          <a:prstGeom prst="rect">
            <a:avLst/>
          </a:prstGeom>
          <a:noFill/>
          <a:ln/>
        </p:spPr>
        <p:txBody>
          <a:bodyPr wrap="square" lIns="0" tIns="0" rIns="0" bIns="0" rtlCol="0" anchor="t"/>
          <a:lstStyle/>
          <a:p>
            <a:pPr indent="0" marL="0">
              <a:buNone/>
            </a:pPr>
            <a:r>
              <a:rPr lang="en-US" sz="1400" dirty="0">
                <a:solidFill>
                  <a:schemeClr val="accent5"/>
                </a:solidFill>
              </a:rPr>
              <a:t>recalculate() keeps a record in GENERATED. Each change also writes a row to the audit log.</a:t>
            </a:r>
            <a:endParaRPr lang="en-US" sz="14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Safeguards cover logins, data integrity and the payroll run</a:t>
            </a:r>
            <a:endParaRPr lang="en-US" sz="3000" dirty="0"/>
          </a:p>
        </p:txBody>
      </p:sp>
      <p:sp>
        <p:nvSpPr>
          <p:cNvPr id="4" name="Text 1"/>
          <p:cNvSpPr txBox="1"/>
          <p:nvPr/>
        </p:nvSpPr>
        <p:spPr>
          <a:xfrm>
            <a:off x="640080" y="1691640"/>
            <a:ext cx="5120640" cy="365760"/>
          </a:xfrm>
          <a:prstGeom prst="rect">
            <a:avLst/>
          </a:prstGeom>
          <a:noFill/>
          <a:ln/>
        </p:spPr>
        <p:txBody>
          <a:bodyPr wrap="square" lIns="0" tIns="0" rIns="0" bIns="0" rtlCol="0" anchor="t"/>
          <a:lstStyle/>
          <a:p>
            <a:pPr indent="0" marL="0">
              <a:buNone/>
            </a:pPr>
            <a:r>
              <a:rPr lang="en-US" sz="2200" b="1" dirty="0">
                <a:solidFill>
                  <a:schemeClr val="tx2"/>
                </a:solidFill>
                <a:latin typeface="+mj-lt" pitchFamily="34" charset="0"/>
                <a:ea typeface="+mj-lt" pitchFamily="34" charset="-122"/>
                <a:cs typeface="+mj-lt" pitchFamily="34" charset="-120"/>
              </a:rPr>
              <a:t>Accounts</a:t>
            </a:r>
            <a:endParaRPr lang="en-US" sz="2200" dirty="0"/>
          </a:p>
        </p:txBody>
      </p:sp>
      <p:sp>
        <p:nvSpPr>
          <p:cNvPr id="5" name="Text 2"/>
          <p:cNvSpPr txBox="1"/>
          <p:nvPr/>
        </p:nvSpPr>
        <p:spPr>
          <a:xfrm>
            <a:off x="640080" y="2240280"/>
            <a:ext cx="5120640" cy="3840480"/>
          </a:xfrm>
          <a:prstGeom prst="rect">
            <a:avLst/>
          </a:prstGeom>
          <a:noFill/>
          <a:ln/>
        </p:spPr>
        <p:txBody>
          <a:bodyPr wrap="square" lIns="0" tIns="0" rIns="0" bIns="0" rtlCol="0" anchor="t"/>
          <a:lstStyle/>
          <a:p>
            <a:pPr indent="0" marL="0">
              <a:buNone/>
            </a:pPr>
            <a:r>
              <a:rPr lang="en-US" sz="1600" b="1" dirty="0">
                <a:solidFill>
                  <a:schemeClr val="tx1"/>
                </a:solidFill>
              </a:rPr>
              <a:t>Hashed passwords.  </a:t>
            </a:r>
            <a:pPr indent="0" marL="0">
              <a:spcAft>
                <a:spcPts val="1400"/>
              </a:spcAft>
              <a:buNone/>
            </a:pPr>
            <a:r>
              <a:rPr lang="en-US" sz="1600" dirty="0">
                <a:solidFill>
                  <a:schemeClr val="tx1"/>
                </a:solidFill>
              </a:rPr>
              <a:t>BCrypt with a salt; plain text is never stored.</a:t>
            </a:r>
            <a:endParaRPr lang="en-US" sz="1600" dirty="0"/>
          </a:p>
          <a:p>
            <a:pPr indent="0" marL="0">
              <a:buNone/>
            </a:pPr>
            <a:r>
              <a:rPr lang="en-US" sz="1600" b="1" dirty="0">
                <a:solidFill>
                  <a:schemeClr val="tx1"/>
                </a:solidFill>
              </a:rPr>
              <a:t>Lockout.  </a:t>
            </a:r>
            <a:pPr indent="0" marL="0">
              <a:spcAft>
                <a:spcPts val="1400"/>
              </a:spcAft>
              <a:buNone/>
            </a:pPr>
            <a:r>
              <a:rPr lang="en-US" sz="1600" dirty="0">
                <a:solidFill>
                  <a:schemeClr val="tx1"/>
                </a:solidFill>
              </a:rPr>
              <a:t>Five wrong passwords lock the account for 15 minutes.</a:t>
            </a:r>
            <a:endParaRPr lang="en-US" sz="1600" dirty="0"/>
          </a:p>
          <a:p>
            <a:pPr indent="0" marL="0">
              <a:buNone/>
            </a:pPr>
            <a:r>
              <a:rPr lang="en-US" sz="1600" b="1" dirty="0">
                <a:solidFill>
                  <a:schemeClr val="tx1"/>
                </a:solidFill>
              </a:rPr>
              <a:t>Soft delete.  </a:t>
            </a:r>
            <a:pPr indent="0" marL="0">
              <a:spcAft>
                <a:spcPts val="1400"/>
              </a:spcAft>
              <a:buNone/>
            </a:pPr>
            <a:r>
              <a:rPr lang="en-US" sz="1600" dirty="0">
                <a:solidFill>
                  <a:schemeClr val="tx1"/>
                </a:solidFill>
              </a:rPr>
              <a:t>A deactivated employee cannot log in, but payroll history stays intact.</a:t>
            </a:r>
            <a:endParaRPr lang="en-US" sz="1600" dirty="0"/>
          </a:p>
          <a:p>
            <a:pPr indent="0" marL="0">
              <a:buNone/>
            </a:pPr>
            <a:r>
              <a:rPr lang="en-US" sz="1600" b="1" dirty="0">
                <a:solidFill>
                  <a:schemeClr val="tx1"/>
                </a:solidFill>
              </a:rPr>
              <a:t>Role-based windows.  </a:t>
            </a:r>
            <a:pPr indent="0" marL="0">
              <a:spcAft>
                <a:spcPts val="1400"/>
              </a:spcAft>
              <a:buNone/>
            </a:pPr>
            <a:r>
              <a:rPr lang="en-US" sz="1600" dirty="0">
                <a:solidFill>
                  <a:schemeClr val="tx1"/>
                </a:solidFill>
              </a:rPr>
              <a:t>Admins and employees get different screens.</a:t>
            </a:r>
            <a:endParaRPr lang="en-US" sz="1600" dirty="0"/>
          </a:p>
        </p:txBody>
      </p:sp>
      <p:sp>
        <p:nvSpPr>
          <p:cNvPr id="6" name="Text 3"/>
          <p:cNvSpPr txBox="1"/>
          <p:nvPr/>
        </p:nvSpPr>
        <p:spPr>
          <a:xfrm>
            <a:off x="6400800" y="1691640"/>
            <a:ext cx="5120640" cy="365760"/>
          </a:xfrm>
          <a:prstGeom prst="rect">
            <a:avLst/>
          </a:prstGeom>
          <a:noFill/>
          <a:ln/>
        </p:spPr>
        <p:txBody>
          <a:bodyPr wrap="square" lIns="0" tIns="0" rIns="0" bIns="0" rtlCol="0" anchor="t"/>
          <a:lstStyle/>
          <a:p>
            <a:pPr indent="0" marL="0">
              <a:buNone/>
            </a:pPr>
            <a:r>
              <a:rPr lang="en-US" sz="2200" b="1" dirty="0">
                <a:solidFill>
                  <a:schemeClr val="tx2"/>
                </a:solidFill>
                <a:latin typeface="+mj-lt" pitchFamily="34" charset="0"/>
                <a:ea typeface="+mj-lt" pitchFamily="34" charset="-122"/>
                <a:cs typeface="+mj-lt" pitchFamily="34" charset="-120"/>
              </a:rPr>
              <a:t>Data and payroll</a:t>
            </a:r>
            <a:endParaRPr lang="en-US" sz="2200" dirty="0"/>
          </a:p>
        </p:txBody>
      </p:sp>
      <p:sp>
        <p:nvSpPr>
          <p:cNvPr id="7" name="Text 4"/>
          <p:cNvSpPr txBox="1"/>
          <p:nvPr/>
        </p:nvSpPr>
        <p:spPr>
          <a:xfrm>
            <a:off x="6400800" y="2240280"/>
            <a:ext cx="5120640" cy="3840480"/>
          </a:xfrm>
          <a:prstGeom prst="rect">
            <a:avLst/>
          </a:prstGeom>
          <a:noFill/>
          <a:ln/>
        </p:spPr>
        <p:txBody>
          <a:bodyPr wrap="square" lIns="0" tIns="0" rIns="0" bIns="0" rtlCol="0" anchor="t"/>
          <a:lstStyle/>
          <a:p>
            <a:pPr indent="0" marL="0">
              <a:buNone/>
            </a:pPr>
            <a:r>
              <a:rPr lang="en-US" sz="1600" b="1" dirty="0">
                <a:solidFill>
                  <a:schemeClr val="tx1"/>
                </a:solidFill>
              </a:rPr>
              <a:t>PreparedStatements  </a:t>
            </a:r>
            <a:pPr indent="0" marL="0">
              <a:spcAft>
                <a:spcPts val="1400"/>
              </a:spcAft>
              <a:buNone/>
            </a:pPr>
            <a:r>
              <a:rPr lang="en-US" sz="1600" dirty="0">
                <a:solidFill>
                  <a:schemeClr val="tx1"/>
                </a:solidFill>
              </a:rPr>
              <a:t>for every query, so input never becomes SQL.</a:t>
            </a:r>
            <a:endParaRPr lang="en-US" sz="1600" dirty="0"/>
          </a:p>
          <a:p>
            <a:pPr indent="0" marL="0">
              <a:buNone/>
            </a:pPr>
            <a:r>
              <a:rPr lang="en-US" sz="1600" b="1" dirty="0">
                <a:solidFill>
                  <a:schemeClr val="tx1"/>
                </a:solidFill>
              </a:rPr>
              <a:t>Unique per employee and month,  </a:t>
            </a:r>
            <a:pPr indent="0" marL="0">
              <a:spcAft>
                <a:spcPts val="1400"/>
              </a:spcAft>
              <a:buNone/>
            </a:pPr>
            <a:r>
              <a:rPr lang="en-US" sz="1600" dirty="0">
                <a:solidFill>
                  <a:schemeClr val="tx1"/>
                </a:solidFill>
              </a:rPr>
              <a:t>so a payroll cannot be created twice.</a:t>
            </a:r>
            <a:endParaRPr lang="en-US" sz="1600" dirty="0"/>
          </a:p>
          <a:p>
            <a:pPr indent="0" marL="0">
              <a:buNone/>
            </a:pPr>
            <a:r>
              <a:rPr lang="en-US" sz="1600" b="1" dirty="0">
                <a:solidFill>
                  <a:schemeClr val="tx1"/>
                </a:solidFill>
              </a:rPr>
              <a:t>Constraints.  </a:t>
            </a:r>
            <a:pPr indent="0" marL="0">
              <a:spcAft>
                <a:spcPts val="1400"/>
              </a:spcAft>
              <a:buNone/>
            </a:pPr>
            <a:r>
              <a:rPr lang="en-US" sz="1600" dirty="0">
                <a:solidFill>
                  <a:schemeClr val="tx1"/>
                </a:solidFill>
              </a:rPr>
              <a:t>Foreign keys and CHECK rules reject invalid rows.</a:t>
            </a:r>
            <a:endParaRPr lang="en-US" sz="1600" dirty="0"/>
          </a:p>
          <a:p>
            <a:pPr indent="0" marL="0">
              <a:buNone/>
            </a:pPr>
            <a:r>
              <a:rPr lang="en-US" sz="1600" b="1" dirty="0">
                <a:solidFill>
                  <a:schemeClr val="tx1"/>
                </a:solidFill>
              </a:rPr>
              <a:t>Audit rows  </a:t>
            </a:r>
            <a:pPr indent="0" marL="0">
              <a:spcAft>
                <a:spcPts val="1400"/>
              </a:spcAft>
              <a:buNone/>
            </a:pPr>
            <a:r>
              <a:rPr lang="en-US" sz="1600" dirty="0">
                <a:solidFill>
                  <a:schemeClr val="tx1"/>
                </a:solidFill>
              </a:rPr>
              <a:t>for every generate, recalculate, verify, pay, cancel and reprocess.</a:t>
            </a:r>
            <a:endParaRPr lang="en-US" sz="1600" dirty="0"/>
          </a:p>
          <a:p>
            <a:pPr indent="0" marL="0">
              <a:buNone/>
            </a:pPr>
            <a:r>
              <a:rPr lang="en-US" sz="1600" b="1" dirty="0">
                <a:solidFill>
                  <a:schemeClr val="tx1"/>
                </a:solidFill>
              </a:rPr>
              <a:t>CSV export  </a:t>
            </a:r>
            <a:pPr indent="0" marL="0">
              <a:spcAft>
                <a:spcPts val="1400"/>
              </a:spcAft>
              <a:buNone/>
            </a:pPr>
            <a:r>
              <a:rPr lang="en-US" sz="1600" dirty="0">
                <a:solidFill>
                  <a:schemeClr val="tx1"/>
                </a:solidFill>
              </a:rPr>
              <a:t>neutralises cells that start like spreadsheet formulas.</a:t>
            </a:r>
            <a:endParaRPr lang="en-US" sz="16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640080" y="457200"/>
            <a:ext cx="10911535" cy="914400"/>
          </a:xfrm>
          <a:prstGeom prst="rect">
            <a:avLst/>
          </a:prstGeom>
          <a:noFill/>
          <a:ln/>
        </p:spPr>
        <p:txBody>
          <a:bodyPr wrap="square" lIns="0" tIns="0" rIns="0" bIns="0" rtlCol="0" anchor="t"/>
          <a:lstStyle/>
          <a:p>
            <a:pPr algn="l" indent="0" marL="0">
              <a:buNone/>
            </a:pPr>
            <a:r>
              <a:rPr lang="en-US" sz="3000" b="1" dirty="0">
                <a:solidFill>
                  <a:schemeClr val="tx2"/>
                </a:solidFill>
              </a:rPr>
              <a:t>Tested end to end; the remaining gaps are known</a:t>
            </a:r>
            <a:endParaRPr lang="en-US" sz="3000" dirty="0"/>
          </a:p>
        </p:txBody>
      </p:sp>
      <p:sp>
        <p:nvSpPr>
          <p:cNvPr id="4" name="Text 1"/>
          <p:cNvSpPr txBox="1"/>
          <p:nvPr/>
        </p:nvSpPr>
        <p:spPr>
          <a:xfrm>
            <a:off x="640080" y="1600200"/>
            <a:ext cx="1463040" cy="868680"/>
          </a:xfrm>
          <a:prstGeom prst="rect">
            <a:avLst/>
          </a:prstGeom>
          <a:noFill/>
          <a:ln/>
        </p:spPr>
        <p:txBody>
          <a:bodyPr wrap="square" lIns="0" tIns="0" rIns="0" bIns="0" rtlCol="0" anchor="t"/>
          <a:lstStyle/>
          <a:p>
            <a:pPr indent="0" marL="0">
              <a:buNone/>
            </a:pPr>
            <a:r>
              <a:rPr lang="en-US" sz="6000" b="1" dirty="0">
                <a:solidFill>
                  <a:schemeClr val="accent2"/>
                </a:solidFill>
                <a:latin typeface="+mj-lt" pitchFamily="34" charset="0"/>
                <a:ea typeface="+mj-lt" pitchFamily="34" charset="-122"/>
                <a:cs typeface="+mj-lt" pitchFamily="34" charset="-120"/>
              </a:rPr>
              <a:t>19</a:t>
            </a:r>
            <a:endParaRPr lang="en-US" sz="6000" dirty="0"/>
          </a:p>
        </p:txBody>
      </p:sp>
      <p:sp>
        <p:nvSpPr>
          <p:cNvPr id="5" name="Text 2"/>
          <p:cNvSpPr txBox="1"/>
          <p:nvPr/>
        </p:nvSpPr>
        <p:spPr>
          <a:xfrm>
            <a:off x="2148840" y="1938528"/>
            <a:ext cx="3474720" cy="457200"/>
          </a:xfrm>
          <a:prstGeom prst="rect">
            <a:avLst/>
          </a:prstGeom>
          <a:noFill/>
          <a:ln/>
        </p:spPr>
        <p:txBody>
          <a:bodyPr wrap="square" lIns="0" tIns="0" rIns="0" bIns="0" rtlCol="0" anchor="t"/>
          <a:lstStyle/>
          <a:p>
            <a:pPr indent="0" marL="0">
              <a:buNone/>
            </a:pPr>
            <a:r>
              <a:rPr lang="en-US" sz="2000" b="1" dirty="0">
                <a:solidFill>
                  <a:schemeClr val="tx2"/>
                </a:solidFill>
              </a:rPr>
              <a:t>automated tests pass</a:t>
            </a:r>
            <a:endParaRPr lang="en-US" sz="2000" dirty="0"/>
          </a:p>
        </p:txBody>
      </p:sp>
      <p:sp>
        <p:nvSpPr>
          <p:cNvPr id="6" name="Text 3"/>
          <p:cNvSpPr txBox="1"/>
          <p:nvPr/>
        </p:nvSpPr>
        <p:spPr>
          <a:xfrm>
            <a:off x="640080" y="2743200"/>
            <a:ext cx="50292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5 cover the salary maths; 14 run the full workflow: login and lockout, payroll runs, status changes, payslip PDF, reports and rollback</a:t>
            </a:r>
            <a:endParaRPr lang="en-US" sz="1600" dirty="0"/>
          </a:p>
          <a:p>
            <a:pPr marL="342900" indent="-342900">
              <a:spcAft>
                <a:spcPts val="1000"/>
              </a:spcAft>
              <a:buSzPct val="100000"/>
              <a:buChar char="•"/>
            </a:pPr>
            <a:r>
              <a:rPr lang="en-US" sz="1600" dirty="0">
                <a:solidFill>
                  <a:schemeClr val="tx1"/>
                </a:solidFill>
              </a:rPr>
              <a:t>The workflow suite passes on in-memory H2 and on a MariaDB 10.11 server</a:t>
            </a:r>
            <a:endParaRPr lang="en-US" sz="1600" dirty="0"/>
          </a:p>
          <a:p>
            <a:pPr marL="342900" indent="-342900">
              <a:spcAft>
                <a:spcPts val="1000"/>
              </a:spcAft>
              <a:buSzPct val="100000"/>
              <a:buChar char="•"/>
            </a:pPr>
            <a:r>
              <a:rPr lang="en-US" sz="1600" dirty="0">
                <a:solidFill>
                  <a:schemeClr val="tx1"/>
                </a:solidFill>
              </a:rPr>
              <a:t>A UI smoke test opens every window against demo data</a:t>
            </a:r>
            <a:endParaRPr lang="en-US" sz="1600" dirty="0"/>
          </a:p>
          <a:p>
            <a:pPr marL="342900" indent="-342900">
              <a:spcAft>
                <a:spcPts val="1000"/>
              </a:spcAft>
              <a:buSzPct val="100000"/>
              <a:buChar char="•"/>
            </a:pPr>
            <a:r>
              <a:rPr lang="en-US" sz="1600" dirty="0">
                <a:solidFill>
                  <a:schemeClr val="tx1"/>
                </a:solidFill>
              </a:rPr>
              <a:t>Not yet run against MySQL 8 itself</a:t>
            </a:r>
            <a:endParaRPr lang="en-US" sz="1600" dirty="0"/>
          </a:p>
        </p:txBody>
      </p:sp>
      <p:sp>
        <p:nvSpPr>
          <p:cNvPr id="7" name="Text 4"/>
          <p:cNvSpPr txBox="1"/>
          <p:nvPr/>
        </p:nvSpPr>
        <p:spPr>
          <a:xfrm>
            <a:off x="6400800" y="1691640"/>
            <a:ext cx="5120640" cy="365760"/>
          </a:xfrm>
          <a:prstGeom prst="rect">
            <a:avLst/>
          </a:prstGeom>
          <a:noFill/>
          <a:ln/>
        </p:spPr>
        <p:txBody>
          <a:bodyPr wrap="square" lIns="0" tIns="0" rIns="0" bIns="0" rtlCol="0" anchor="t"/>
          <a:lstStyle/>
          <a:p>
            <a:pPr indent="0" marL="0">
              <a:buNone/>
            </a:pPr>
            <a:r>
              <a:rPr lang="en-US" sz="2200" b="1" dirty="0">
                <a:solidFill>
                  <a:schemeClr val="tx2"/>
                </a:solidFill>
                <a:latin typeface="+mj-lt" pitchFamily="34" charset="0"/>
                <a:ea typeface="+mj-lt" pitchFamily="34" charset="-122"/>
                <a:cs typeface="+mj-lt" pitchFamily="34" charset="-120"/>
              </a:rPr>
              <a:t>Limitations and future work</a:t>
            </a:r>
            <a:endParaRPr lang="en-US" sz="2200" dirty="0"/>
          </a:p>
        </p:txBody>
      </p:sp>
      <p:sp>
        <p:nvSpPr>
          <p:cNvPr id="8" name="Text 5"/>
          <p:cNvSpPr txBox="1"/>
          <p:nvPr/>
        </p:nvSpPr>
        <p:spPr>
          <a:xfrm>
            <a:off x="6400800" y="2240280"/>
            <a:ext cx="5120640" cy="38404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The automatic run needs the app open on the 1st; HR can always run it manually</a:t>
            </a:r>
            <a:endParaRPr lang="en-US" sz="1600" dirty="0"/>
          </a:p>
          <a:p>
            <a:pPr marL="342900" indent="-342900">
              <a:spcAft>
                <a:spcPts val="1000"/>
              </a:spcAft>
              <a:buSzPct val="100000"/>
              <a:buChar char="•"/>
            </a:pPr>
            <a:r>
              <a:rPr lang="en-US" sz="1600" dirty="0">
                <a:solidFill>
                  <a:schemeClr val="tx1"/>
                </a:solidFill>
              </a:rPr>
              <a:t>Tax is a flat percentage, with no tax slabs</a:t>
            </a:r>
            <a:endParaRPr lang="en-US" sz="1600" dirty="0"/>
          </a:p>
          <a:p>
            <a:pPr marL="342900" indent="-342900">
              <a:spcAft>
                <a:spcPts val="1000"/>
              </a:spcAft>
              <a:buSzPct val="100000"/>
              <a:buChar char="•"/>
            </a:pPr>
            <a:r>
              <a:rPr lang="en-US" sz="1600" dirty="0">
                <a:solidFill>
                  <a:schemeClr val="tx1"/>
                </a:solidFill>
              </a:rPr>
              <a:t>Employees who join mid-month are not pro-rated</a:t>
            </a:r>
            <a:endParaRPr lang="en-US" sz="1600" dirty="0"/>
          </a:p>
          <a:p>
            <a:pPr marL="342900" indent="-342900">
              <a:spcAft>
                <a:spcPts val="1000"/>
              </a:spcAft>
              <a:buSzPct val="100000"/>
              <a:buChar char="•"/>
            </a:pPr>
            <a:r>
              <a:rPr lang="en-US" sz="1600" dirty="0">
                <a:solidFill>
                  <a:schemeClr val="tx1"/>
                </a:solidFill>
              </a:rPr>
              <a:t>One currency, one company, desktop only</a:t>
            </a:r>
            <a:endParaRPr lang="en-US" sz="1600" dirty="0"/>
          </a:p>
          <a:p>
            <a:pPr marL="342900" indent="-342900">
              <a:spcAft>
                <a:spcPts val="1000"/>
              </a:spcAft>
              <a:buSzPct val="100000"/>
              <a:buChar char="•"/>
            </a:pPr>
            <a:r>
              <a:rPr lang="en-US" sz="1600" dirty="0">
                <a:solidFill>
                  <a:schemeClr val="tx1"/>
                </a:solidFill>
              </a:rPr>
              <a:t>No concurrency testing with many simultaneous users</a:t>
            </a:r>
            <a:endParaRPr lang="en-US" sz="16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7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640080" y="2011680"/>
            <a:ext cx="8778240" cy="2011680"/>
          </a:xfrm>
          <a:prstGeom prst="rect">
            <a:avLst/>
          </a:prstGeom>
          <a:noFill/>
          <a:ln/>
        </p:spPr>
        <p:txBody>
          <a:bodyPr wrap="square" lIns="0" tIns="0" rIns="0" bIns="0" rtlCol="0" anchor="t"/>
          <a:lstStyle/>
          <a:p>
            <a:pPr algn="l" indent="0" marL="0">
              <a:buNone/>
            </a:pPr>
            <a:r>
              <a:rPr lang="en-US" sz="3800" b="1" dirty="0">
                <a:solidFill>
                  <a:schemeClr val="bg1"/>
                </a:solidFill>
              </a:rPr>
              <a:t>One calculation engine, one audit trail, two kinds of users</a:t>
            </a:r>
            <a:endParaRPr lang="en-US" sz="3800" dirty="0"/>
          </a:p>
        </p:txBody>
      </p:sp>
      <p:sp>
        <p:nvSpPr>
          <p:cNvPr id="3" name="Text 1"/>
          <p:cNvSpPr txBox="1"/>
          <p:nvPr/>
        </p:nvSpPr>
        <p:spPr>
          <a:xfrm>
            <a:off x="640080" y="4343400"/>
            <a:ext cx="5486400" cy="548640"/>
          </a:xfrm>
          <a:prstGeom prst="rect">
            <a:avLst/>
          </a:prstGeom>
          <a:noFill/>
          <a:ln/>
        </p:spPr>
        <p:txBody>
          <a:bodyPr wrap="square" lIns="0" tIns="0" rIns="0" bIns="0" rtlCol="0" anchor="t"/>
          <a:lstStyle/>
          <a:p>
            <a:pPr indent="0" marL="0">
              <a:buNone/>
            </a:pPr>
            <a:r>
              <a:rPr lang="en-US" sz="2400" dirty="0">
                <a:solidFill>
                  <a:schemeClr val="accent2"/>
                </a:solidFill>
                <a:latin typeface="+mj-lt" pitchFamily="34" charset="0"/>
                <a:ea typeface="+mj-lt" pitchFamily="34" charset="-122"/>
                <a:cs typeface="+mj-lt" pitchFamily="34" charset="-120"/>
              </a:rPr>
              <a:t>Questions?</a:t>
            </a:r>
            <a:endParaRPr lang="en-US" sz="2400" dirty="0"/>
          </a:p>
        </p:txBody>
      </p:sp>
      <p:sp>
        <p:nvSpPr>
          <p:cNvPr id="4" name="Text 2"/>
          <p:cNvSpPr txBox="1"/>
          <p:nvPr/>
        </p:nvSpPr>
        <p:spPr>
          <a:xfrm>
            <a:off x="640080" y="5852160"/>
            <a:ext cx="8229600" cy="365760"/>
          </a:xfrm>
          <a:prstGeom prst="rect">
            <a:avLst/>
          </a:prstGeom>
          <a:noFill/>
          <a:ln/>
        </p:spPr>
        <p:txBody>
          <a:bodyPr wrap="square" lIns="0" tIns="0" rIns="0" bIns="0" rtlCol="0" anchor="t"/>
          <a:lstStyle/>
          <a:p>
            <a:pPr indent="0" marL="0">
              <a:buNone/>
            </a:pPr>
            <a:r>
              <a:rPr lang="en-US" sz="1400" dirty="0">
                <a:solidFill>
                  <a:schemeClr val="bg2"/>
                </a:solidFill>
              </a:rPr>
              <a:t>Source code, UML diagrams and tests are in the project folder payroll-system/</a:t>
            </a:r>
            <a:endParaRPr lang="en-US" sz="1400" dirty="0"/>
          </a:p>
        </p:txBody>
      </p:sp>
    </p:spTree>
  </p:cSld>
  <p:clrMapOvr>
    <a:masterClrMapping/>
  </p:clrMapOvr>
</p:sld>
</file>

<file path=ppt/theme/theme1.xml><?xml version="1.0" encoding="utf-8"?>
<a:theme xmlns:a="http://schemas.openxmlformats.org/drawingml/2006/main" name="Ledger">
  <a:themeElements>
    <a:clrScheme name="Ledger">
      <a:dk1>
        <a:srgbClr val="1E2A27"/>
      </a:dk1>
      <a:lt1>
        <a:srgbClr val="FFFFFF"/>
      </a:lt1>
      <a:dk2>
        <a:srgbClr val="1F3A32"/>
      </a:dk2>
      <a:lt2>
        <a:srgbClr val="EDF2EF"/>
      </a:lt2>
      <a:accent1>
        <a:srgbClr val="2F6B5A"/>
      </a:accent1>
      <a:accent2>
        <a:srgbClr val="B7791F"/>
      </a:accent2>
      <a:accent3>
        <a:srgbClr val="56788C"/>
      </a:accent3>
      <a:accent4>
        <a:srgbClr val="8A5A44"/>
      </a:accent4>
      <a:accent5>
        <a:srgbClr val="6B7773"/>
      </a:accent5>
      <a:accent6>
        <a:srgbClr val="A33B3B"/>
      </a:accent6>
      <a:hlink>
        <a:srgbClr val="2F6B5A"/>
      </a:hlink>
      <a:folHlink>
        <a:srgbClr val="56788C"/>
      </a:folHlink>
    </a:clrScheme>
    <a:fontScheme name="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Payroll Management System</dc:title>
  <dc:subject>Project presentation</dc:subject>
  <dc:creator>PptxGenJS</dc:creator>
  <cp:lastModifiedBy>PptxGenJS</cp:lastModifiedBy>
  <cp:revision>1</cp:revision>
  <dcterms:created xsi:type="dcterms:W3CDTF">2026-10-28T08:32:39Z</dcterms:created>
  <dcterms:modified xsi:type="dcterms:W3CDTF">2026-10-28T08:32:39Z</dcterms:modified>
</cp:coreProperties>
</file>